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media/image8.jpg" ContentType="image/jpeg"/>
  <Override PartName="/ppt/media/image9.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7" r:id="rId2"/>
    <p:sldId id="260" r:id="rId3"/>
    <p:sldId id="258" r:id="rId4"/>
    <p:sldId id="259" r:id="rId5"/>
    <p:sldId id="261" r:id="rId6"/>
    <p:sldId id="262" r:id="rId7"/>
    <p:sldId id="263" r:id="rId8"/>
    <p:sldId id="265" r:id="rId9"/>
    <p:sldId id="266" r:id="rId10"/>
    <p:sldId id="267" r:id="rId11"/>
    <p:sldId id="268" r:id="rId12"/>
    <p:sldId id="278" r:id="rId13"/>
    <p:sldId id="276" r:id="rId14"/>
    <p:sldId id="277" r:id="rId15"/>
    <p:sldId id="269" r:id="rId16"/>
    <p:sldId id="270" r:id="rId17"/>
    <p:sldId id="271" r:id="rId18"/>
    <p:sldId id="274" r:id="rId19"/>
    <p:sldId id="275" r:id="rId20"/>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63" autoAdjust="0"/>
    <p:restoredTop sz="94660"/>
  </p:normalViewPr>
  <p:slideViewPr>
    <p:cSldViewPr>
      <p:cViewPr varScale="1">
        <p:scale>
          <a:sx n="56" d="100"/>
          <a:sy n="56" d="100"/>
        </p:scale>
        <p:origin x="769" y="39"/>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7793DC85-F3FF-42D0-B8CB-3266FB81AD06}" type="datetimeFigureOut">
              <a:rPr lang="en-IN" smtClean="0"/>
              <a:t>06-12-2025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96C41FB8-C43E-4E85-84F6-D56F4C729424}" type="slidenum">
              <a:rPr lang="en-IN" smtClean="0"/>
              <a:t>‹#›</a:t>
            </a:fld>
            <a:endParaRPr lang="en-IN"/>
          </a:p>
        </p:txBody>
      </p:sp>
    </p:spTree>
    <p:extLst>
      <p:ext uri="{BB962C8B-B14F-4D97-AF65-F5344CB8AC3E}">
        <p14:creationId xmlns:p14="http://schemas.microsoft.com/office/powerpoint/2010/main" val="368704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35" dirty="0"/>
              <a:t>Department</a:t>
            </a:r>
            <a:r>
              <a:rPr spc="295" dirty="0"/>
              <a:t> </a:t>
            </a:r>
            <a:r>
              <a:rPr dirty="0"/>
              <a:t>of</a:t>
            </a:r>
            <a:r>
              <a:rPr spc="25" dirty="0"/>
              <a:t> </a:t>
            </a:r>
            <a:r>
              <a:rPr spc="5" dirty="0"/>
              <a:t>CSE</a:t>
            </a:r>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dirty="0"/>
              <a:t>24-12-2023</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38100">
              <a:lnSpc>
                <a:spcPts val="1410"/>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35" dirty="0"/>
              <a:t>Department</a:t>
            </a:r>
            <a:r>
              <a:rPr spc="295" dirty="0"/>
              <a:t> </a:t>
            </a:r>
            <a:r>
              <a:rPr dirty="0"/>
              <a:t>of</a:t>
            </a:r>
            <a:r>
              <a:rPr spc="25" dirty="0"/>
              <a:t> </a:t>
            </a:r>
            <a:r>
              <a:rPr spc="5" dirty="0"/>
              <a:t>CSE</a:t>
            </a:r>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dirty="0"/>
              <a:t>24-12-2023</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38100">
              <a:lnSpc>
                <a:spcPts val="141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35" dirty="0"/>
              <a:t>Department</a:t>
            </a:r>
            <a:r>
              <a:rPr spc="295" dirty="0"/>
              <a:t> </a:t>
            </a:r>
            <a:r>
              <a:rPr dirty="0"/>
              <a:t>of</a:t>
            </a:r>
            <a:r>
              <a:rPr spc="25" dirty="0"/>
              <a:t> </a:t>
            </a:r>
            <a:r>
              <a:rPr spc="5" dirty="0"/>
              <a:t>CSE</a:t>
            </a:r>
          </a:p>
        </p:txBody>
      </p:sp>
      <p:sp>
        <p:nvSpPr>
          <p:cNvPr id="6" name="Holder 6"/>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dirty="0"/>
              <a:t>24-12-2023</a:t>
            </a:r>
          </a:p>
        </p:txBody>
      </p:sp>
      <p:sp>
        <p:nvSpPr>
          <p:cNvPr id="7" name="Holder 7"/>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38100">
              <a:lnSpc>
                <a:spcPts val="141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35" dirty="0"/>
              <a:t>Department</a:t>
            </a:r>
            <a:r>
              <a:rPr spc="295" dirty="0"/>
              <a:t> </a:t>
            </a:r>
            <a:r>
              <a:rPr dirty="0"/>
              <a:t>of</a:t>
            </a:r>
            <a:r>
              <a:rPr spc="25" dirty="0"/>
              <a:t> </a:t>
            </a:r>
            <a:r>
              <a:rPr spc="5" dirty="0"/>
              <a:t>CSE</a:t>
            </a:r>
          </a:p>
        </p:txBody>
      </p:sp>
      <p:sp>
        <p:nvSpPr>
          <p:cNvPr id="4" name="Holder 4"/>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dirty="0"/>
              <a:t>24-12-2023</a:t>
            </a:r>
          </a:p>
        </p:txBody>
      </p:sp>
      <p:sp>
        <p:nvSpPr>
          <p:cNvPr id="5" name="Holder 5"/>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38100">
              <a:lnSpc>
                <a:spcPts val="1410"/>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35" dirty="0"/>
              <a:t>Department</a:t>
            </a:r>
            <a:r>
              <a:rPr spc="295" dirty="0"/>
              <a:t> </a:t>
            </a:r>
            <a:r>
              <a:rPr dirty="0"/>
              <a:t>of</a:t>
            </a:r>
            <a:r>
              <a:rPr spc="25" dirty="0"/>
              <a:t> </a:t>
            </a:r>
            <a:r>
              <a:rPr spc="5" dirty="0"/>
              <a:t>CSE</a:t>
            </a:r>
          </a:p>
        </p:txBody>
      </p:sp>
      <p:sp>
        <p:nvSpPr>
          <p:cNvPr id="3" name="Holder 3"/>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dirty="0"/>
              <a:t>24-12-2023</a:t>
            </a:r>
          </a:p>
        </p:txBody>
      </p:sp>
      <p:sp>
        <p:nvSpPr>
          <p:cNvPr id="4" name="Holder 4"/>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38100">
              <a:lnSpc>
                <a:spcPts val="1410"/>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57150" y="38100"/>
            <a:ext cx="3667124" cy="504825"/>
          </a:xfrm>
          <a:prstGeom prst="rect">
            <a:avLst/>
          </a:prstGeom>
        </p:spPr>
      </p:pic>
      <p:sp>
        <p:nvSpPr>
          <p:cNvPr id="2" name="Holder 2"/>
          <p:cNvSpPr>
            <a:spLocks noGrp="1"/>
          </p:cNvSpPr>
          <p:nvPr>
            <p:ph type="title"/>
          </p:nvPr>
        </p:nvSpPr>
        <p:spPr>
          <a:xfrm>
            <a:off x="2806699" y="529843"/>
            <a:ext cx="6578600" cy="701040"/>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917575" y="1336357"/>
            <a:ext cx="10356850" cy="448754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6529987" y="6451049"/>
            <a:ext cx="1242059"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spc="-35" dirty="0"/>
              <a:t>Department</a:t>
            </a:r>
            <a:r>
              <a:rPr spc="295" dirty="0"/>
              <a:t> </a:t>
            </a:r>
            <a:r>
              <a:rPr dirty="0"/>
              <a:t>of</a:t>
            </a:r>
            <a:r>
              <a:rPr spc="25" dirty="0"/>
              <a:t> </a:t>
            </a:r>
            <a:r>
              <a:rPr spc="5" dirty="0"/>
              <a:t>CSE</a:t>
            </a:r>
          </a:p>
        </p:txBody>
      </p:sp>
      <p:sp>
        <p:nvSpPr>
          <p:cNvPr id="5" name="Holder 5"/>
          <p:cNvSpPr>
            <a:spLocks noGrp="1"/>
          </p:cNvSpPr>
          <p:nvPr>
            <p:ph type="dt" sz="half" idx="6"/>
          </p:nvPr>
        </p:nvSpPr>
        <p:spPr>
          <a:xfrm>
            <a:off x="917575" y="6451049"/>
            <a:ext cx="749935"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spc="5" dirty="0"/>
              <a:t>24-12-2023</a:t>
            </a:r>
          </a:p>
        </p:txBody>
      </p:sp>
      <p:sp>
        <p:nvSpPr>
          <p:cNvPr id="6" name="Holder 6"/>
          <p:cNvSpPr>
            <a:spLocks noGrp="1"/>
          </p:cNvSpPr>
          <p:nvPr>
            <p:ph type="sldNum" sz="quarter" idx="7"/>
          </p:nvPr>
        </p:nvSpPr>
        <p:spPr>
          <a:xfrm>
            <a:off x="11082401" y="6451049"/>
            <a:ext cx="228600"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38100">
              <a:lnSpc>
                <a:spcPts val="1410"/>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1109/ACCESS.2025.3560783" TargetMode="External"/><Relationship Id="rId2" Type="http://schemas.openxmlformats.org/officeDocument/2006/relationships/hyperlink" Target="https://doi.org/10.1109/ACCESS.2025.3580741" TargetMode="External"/><Relationship Id="rId1" Type="http://schemas.openxmlformats.org/officeDocument/2006/relationships/slideLayout" Target="../slideLayouts/slideLayout2.xml"/><Relationship Id="rId6" Type="http://schemas.openxmlformats.org/officeDocument/2006/relationships/hyperlink" Target="https://doi.org/10.1109/ACCESS.2025.3555302" TargetMode="External"/><Relationship Id="rId5" Type="http://schemas.openxmlformats.org/officeDocument/2006/relationships/hyperlink" Target="https://doi.org/10.1109/ACCESS.2025.3561593" TargetMode="External"/><Relationship Id="rId4" Type="http://schemas.openxmlformats.org/officeDocument/2006/relationships/hyperlink" Target="https://doi.org/10.1109/ACCESS.2025.3573589"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2072639" y="696704"/>
            <a:ext cx="8277859" cy="1637627"/>
          </a:xfrm>
          <a:prstGeom prst="rect">
            <a:avLst/>
          </a:prstGeom>
        </p:spPr>
        <p:txBody>
          <a:bodyPr vert="horz" wrap="square" lIns="0" tIns="64769" rIns="0" bIns="0" rtlCol="0">
            <a:spAutoFit/>
          </a:bodyPr>
          <a:lstStyle/>
          <a:p>
            <a:pPr algn="ctr">
              <a:lnSpc>
                <a:spcPct val="100000"/>
              </a:lnSpc>
              <a:spcBef>
                <a:spcPts val="509"/>
              </a:spcBef>
            </a:pPr>
            <a:r>
              <a:rPr sz="1800" spc="-10" dirty="0"/>
              <a:t>Department</a:t>
            </a:r>
            <a:r>
              <a:rPr sz="1800" spc="65" dirty="0"/>
              <a:t> </a:t>
            </a:r>
            <a:r>
              <a:rPr sz="1800" dirty="0"/>
              <a:t>of</a:t>
            </a:r>
            <a:r>
              <a:rPr sz="1800" spc="-10" dirty="0"/>
              <a:t> </a:t>
            </a:r>
            <a:r>
              <a:rPr sz="1800" spc="-20" dirty="0"/>
              <a:t>Computer</a:t>
            </a:r>
            <a:r>
              <a:rPr sz="1800" spc="90" dirty="0"/>
              <a:t> </a:t>
            </a:r>
            <a:r>
              <a:rPr sz="1800" dirty="0"/>
              <a:t>Science</a:t>
            </a:r>
            <a:r>
              <a:rPr sz="1800" spc="-60" dirty="0"/>
              <a:t> </a:t>
            </a:r>
            <a:r>
              <a:rPr sz="1800" spc="-10" dirty="0"/>
              <a:t>and</a:t>
            </a:r>
            <a:r>
              <a:rPr sz="1800" spc="40" dirty="0"/>
              <a:t> </a:t>
            </a:r>
            <a:r>
              <a:rPr sz="1800" dirty="0"/>
              <a:t>Engineering</a:t>
            </a:r>
          </a:p>
          <a:p>
            <a:pPr algn="ctr">
              <a:spcBef>
                <a:spcPts val="545"/>
              </a:spcBef>
            </a:pPr>
            <a:r>
              <a:rPr lang="en-US" sz="2400" dirty="0">
                <a:solidFill>
                  <a:srgbClr val="FF0000"/>
                </a:solidFill>
                <a:effectLst/>
                <a:latin typeface="Times New Roman" panose="02020603050405020304" pitchFamily="18" charset="0"/>
                <a:ea typeface="Times New Roman" panose="02020603050405020304" pitchFamily="18" charset="0"/>
              </a:rPr>
              <a:t>AquaNet-X: A Deep Hybrid Ensemble Model for Accurate</a:t>
            </a:r>
            <a:r>
              <a:rPr lang="en-US" sz="2400" spc="95" dirty="0">
                <a:solidFill>
                  <a:srgbClr val="FF000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Real-Time</a:t>
            </a:r>
            <a:r>
              <a:rPr lang="en-US" sz="2400" spc="95" dirty="0">
                <a:solidFill>
                  <a:srgbClr val="FF000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Water</a:t>
            </a:r>
            <a:r>
              <a:rPr lang="en-US" sz="2400" spc="95" dirty="0">
                <a:solidFill>
                  <a:srgbClr val="FF000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Quality</a:t>
            </a:r>
            <a:r>
              <a:rPr lang="en-US" sz="2400" spc="95" dirty="0">
                <a:solidFill>
                  <a:srgbClr val="FF000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Index</a:t>
            </a:r>
            <a:r>
              <a:rPr lang="en-US" sz="2400" spc="100" dirty="0">
                <a:solidFill>
                  <a:srgbClr val="FF0000"/>
                </a:solidFill>
                <a:effectLst/>
                <a:latin typeface="Times New Roman" panose="02020603050405020304" pitchFamily="18" charset="0"/>
                <a:ea typeface="Times New Roman" panose="02020603050405020304" pitchFamily="18" charset="0"/>
              </a:rPr>
              <a:t> </a:t>
            </a:r>
            <a:r>
              <a:rPr lang="en-US" sz="2400" spc="-10" dirty="0">
                <a:solidFill>
                  <a:srgbClr val="FF0000"/>
                </a:solidFill>
                <a:effectLst/>
                <a:latin typeface="Times New Roman" panose="02020603050405020304" pitchFamily="18" charset="0"/>
                <a:ea typeface="Times New Roman" panose="02020603050405020304" pitchFamily="18" charset="0"/>
              </a:rPr>
              <a:t>Prediction</a:t>
            </a:r>
            <a:br>
              <a:rPr lang="en-IN" sz="2400" dirty="0">
                <a:solidFill>
                  <a:srgbClr val="FF0000"/>
                </a:solidFill>
                <a:effectLst/>
                <a:latin typeface="Times New Roman" panose="02020603050405020304" pitchFamily="18" charset="0"/>
                <a:ea typeface="Times New Roman" panose="02020603050405020304" pitchFamily="18" charset="0"/>
              </a:rPr>
            </a:br>
            <a:endParaRPr lang="en-US" sz="3200" dirty="0">
              <a:solidFill>
                <a:srgbClr val="FF0000"/>
              </a:solidFill>
            </a:endParaRPr>
          </a:p>
        </p:txBody>
      </p:sp>
      <p:sp>
        <p:nvSpPr>
          <p:cNvPr id="6" name="object 6"/>
          <p:cNvSpPr txBox="1"/>
          <p:nvPr/>
        </p:nvSpPr>
        <p:spPr>
          <a:xfrm>
            <a:off x="5184393" y="1987033"/>
            <a:ext cx="1503045" cy="266065"/>
          </a:xfrm>
          <a:prstGeom prst="rect">
            <a:avLst/>
          </a:prstGeom>
        </p:spPr>
        <p:txBody>
          <a:bodyPr vert="horz" wrap="square" lIns="0" tIns="15875" rIns="0" bIns="0" rtlCol="0">
            <a:spAutoFit/>
          </a:bodyPr>
          <a:lstStyle/>
          <a:p>
            <a:pPr marL="12700">
              <a:lnSpc>
                <a:spcPct val="100000"/>
              </a:lnSpc>
              <a:spcBef>
                <a:spcPts val="125"/>
              </a:spcBef>
            </a:pPr>
            <a:r>
              <a:rPr sz="1550" spc="5" dirty="0">
                <a:latin typeface="Times New Roman"/>
                <a:cs typeface="Times New Roman"/>
              </a:rPr>
              <a:t>PRESENTED</a:t>
            </a:r>
            <a:r>
              <a:rPr sz="1550" spc="120" dirty="0">
                <a:latin typeface="Times New Roman"/>
                <a:cs typeface="Times New Roman"/>
              </a:rPr>
              <a:t> </a:t>
            </a:r>
            <a:r>
              <a:rPr sz="1550" spc="15" dirty="0">
                <a:latin typeface="Times New Roman"/>
                <a:cs typeface="Times New Roman"/>
              </a:rPr>
              <a:t>BY</a:t>
            </a:r>
            <a:endParaRPr sz="1550" dirty="0">
              <a:latin typeface="Times New Roman"/>
              <a:cs typeface="Times New Roman"/>
            </a:endParaRPr>
          </a:p>
        </p:txBody>
      </p:sp>
      <p:sp>
        <p:nvSpPr>
          <p:cNvPr id="7" name="object 7"/>
          <p:cNvSpPr txBox="1"/>
          <p:nvPr/>
        </p:nvSpPr>
        <p:spPr>
          <a:xfrm>
            <a:off x="3714749" y="2301566"/>
            <a:ext cx="5241702" cy="1150700"/>
          </a:xfrm>
          <a:prstGeom prst="rect">
            <a:avLst/>
          </a:prstGeom>
        </p:spPr>
        <p:txBody>
          <a:bodyPr vert="horz" wrap="square" lIns="0" tIns="12065" rIns="0" bIns="0" rtlCol="0">
            <a:spAutoFit/>
          </a:bodyPr>
          <a:lstStyle/>
          <a:p>
            <a:pPr marL="12700" marR="5080" indent="8890">
              <a:lnSpc>
                <a:spcPct val="137300"/>
              </a:lnSpc>
              <a:spcBef>
                <a:spcPts val="95"/>
              </a:spcBef>
            </a:pPr>
            <a:r>
              <a:rPr lang="en-IN" spc="-10" dirty="0">
                <a:latin typeface="Times New Roman" panose="02020603050405020304" pitchFamily="18" charset="0"/>
                <a:cs typeface="Times New Roman" panose="02020603050405020304" pitchFamily="18" charset="0"/>
              </a:rPr>
              <a:t>Adhikari Satish                           (22471A05E1)</a:t>
            </a:r>
          </a:p>
          <a:p>
            <a:pPr marL="12700" marR="5080" indent="8890">
              <a:lnSpc>
                <a:spcPct val="137300"/>
              </a:lnSpc>
              <a:spcBef>
                <a:spcPts val="95"/>
              </a:spcBef>
            </a:pPr>
            <a:r>
              <a:rPr lang="en-US" spc="-10" dirty="0" err="1">
                <a:latin typeface="Times New Roman" panose="02020603050405020304" pitchFamily="18" charset="0"/>
                <a:cs typeface="Times New Roman" panose="02020603050405020304" pitchFamily="18" charset="0"/>
              </a:rPr>
              <a:t>Tullibilli</a:t>
            </a:r>
            <a:r>
              <a:rPr lang="en-US" spc="-10" dirty="0">
                <a:latin typeface="Times New Roman" panose="02020603050405020304" pitchFamily="18" charset="0"/>
                <a:cs typeface="Times New Roman" panose="02020603050405020304" pitchFamily="18" charset="0"/>
              </a:rPr>
              <a:t> Lakshmi Siva Sai        (22471A05G8)</a:t>
            </a:r>
            <a:endParaRPr lang="en-IN" spc="-20" dirty="0">
              <a:latin typeface="Times New Roman" panose="02020603050405020304" pitchFamily="18" charset="0"/>
              <a:cs typeface="Times New Roman" panose="02020603050405020304" pitchFamily="18" charset="0"/>
            </a:endParaRPr>
          </a:p>
          <a:p>
            <a:pPr marL="21590">
              <a:lnSpc>
                <a:spcPct val="100000"/>
              </a:lnSpc>
              <a:spcBef>
                <a:spcPts val="690"/>
              </a:spcBef>
            </a:pPr>
            <a:r>
              <a:rPr lang="en-IN" spc="-20" dirty="0" err="1">
                <a:latin typeface="Times New Roman" panose="02020603050405020304" pitchFamily="18" charset="0"/>
                <a:cs typeface="Times New Roman" panose="02020603050405020304" pitchFamily="18" charset="0"/>
              </a:rPr>
              <a:t>Pallapu</a:t>
            </a:r>
            <a:r>
              <a:rPr lang="en-IN" spc="-20" dirty="0">
                <a:latin typeface="Times New Roman" panose="02020603050405020304" pitchFamily="18" charset="0"/>
                <a:cs typeface="Times New Roman" panose="02020603050405020304" pitchFamily="18" charset="0"/>
              </a:rPr>
              <a:t> Harish                             (22471A05I1)</a:t>
            </a:r>
            <a:endParaRPr dirty="0">
              <a:latin typeface="Times New Roman" panose="02020603050405020304" pitchFamily="18" charset="0"/>
              <a:cs typeface="Times New Roman" panose="02020603050405020304" pitchFamily="18" charset="0"/>
            </a:endParaRPr>
          </a:p>
        </p:txBody>
      </p:sp>
      <p:sp>
        <p:nvSpPr>
          <p:cNvPr id="9" name="object 9"/>
          <p:cNvSpPr txBox="1"/>
          <p:nvPr/>
        </p:nvSpPr>
        <p:spPr>
          <a:xfrm>
            <a:off x="3886201" y="4038600"/>
            <a:ext cx="4424426" cy="2287549"/>
          </a:xfrm>
          <a:prstGeom prst="rect">
            <a:avLst/>
          </a:prstGeom>
        </p:spPr>
        <p:txBody>
          <a:bodyPr vert="horz" wrap="square" lIns="0" tIns="20320" rIns="0" bIns="0" rtlCol="0">
            <a:spAutoFit/>
          </a:bodyPr>
          <a:lstStyle/>
          <a:p>
            <a:pPr marL="1022350" marR="1009650" algn="ctr">
              <a:lnSpc>
                <a:spcPct val="122000"/>
              </a:lnSpc>
              <a:spcBef>
                <a:spcPts val="160"/>
              </a:spcBef>
            </a:pPr>
            <a:r>
              <a:rPr sz="1800" spc="-15" dirty="0">
                <a:solidFill>
                  <a:srgbClr val="006600"/>
                </a:solidFill>
                <a:latin typeface="Times New Roman"/>
                <a:cs typeface="Times New Roman"/>
              </a:rPr>
              <a:t>Under</a:t>
            </a:r>
            <a:r>
              <a:rPr sz="1800" spc="50" dirty="0">
                <a:solidFill>
                  <a:srgbClr val="006600"/>
                </a:solidFill>
                <a:latin typeface="Times New Roman"/>
                <a:cs typeface="Times New Roman"/>
              </a:rPr>
              <a:t> </a:t>
            </a:r>
            <a:r>
              <a:rPr sz="1800" spc="5" dirty="0">
                <a:solidFill>
                  <a:srgbClr val="006600"/>
                </a:solidFill>
                <a:latin typeface="Times New Roman"/>
                <a:cs typeface="Times New Roman"/>
              </a:rPr>
              <a:t>the</a:t>
            </a:r>
            <a:r>
              <a:rPr sz="1800" spc="-65" dirty="0">
                <a:solidFill>
                  <a:srgbClr val="006600"/>
                </a:solidFill>
                <a:latin typeface="Times New Roman"/>
                <a:cs typeface="Times New Roman"/>
              </a:rPr>
              <a:t> </a:t>
            </a:r>
            <a:r>
              <a:rPr sz="1800" spc="-5" dirty="0">
                <a:solidFill>
                  <a:srgbClr val="006600"/>
                </a:solidFill>
                <a:latin typeface="Times New Roman"/>
                <a:cs typeface="Times New Roman"/>
              </a:rPr>
              <a:t>G</a:t>
            </a:r>
            <a:r>
              <a:rPr lang="en-IN" sz="1800" spc="-5" dirty="0" err="1">
                <a:solidFill>
                  <a:srgbClr val="006600"/>
                </a:solidFill>
                <a:latin typeface="Times New Roman"/>
                <a:cs typeface="Times New Roman"/>
              </a:rPr>
              <a:t>uidance</a:t>
            </a:r>
            <a:r>
              <a:rPr lang="en-IN" sz="1800" spc="5" dirty="0">
                <a:solidFill>
                  <a:srgbClr val="006600"/>
                </a:solidFill>
                <a:latin typeface="Times New Roman"/>
                <a:cs typeface="Times New Roman"/>
              </a:rPr>
              <a:t> </a:t>
            </a:r>
            <a:r>
              <a:rPr lang="en-IN" sz="1800" dirty="0">
                <a:solidFill>
                  <a:srgbClr val="006600"/>
                </a:solidFill>
                <a:latin typeface="Times New Roman"/>
                <a:cs typeface="Times New Roman"/>
              </a:rPr>
              <a:t>of</a:t>
            </a:r>
            <a:r>
              <a:rPr lang="en-IN" dirty="0">
                <a:solidFill>
                  <a:srgbClr val="006600"/>
                </a:solidFill>
                <a:latin typeface="Times New Roman"/>
                <a:cs typeface="Times New Roman"/>
              </a:rPr>
              <a:t>  </a:t>
            </a:r>
          </a:p>
          <a:p>
            <a:pPr marR="292735" algn="ctr">
              <a:lnSpc>
                <a:spcPct val="150000"/>
              </a:lnSpc>
              <a:spcBef>
                <a:spcPts val="50"/>
              </a:spcBef>
              <a:spcAft>
                <a:spcPts val="0"/>
              </a:spcAft>
            </a:pPr>
            <a:r>
              <a:rPr lang="en-US" sz="1400" b="1" dirty="0">
                <a:effectLst/>
                <a:latin typeface="Times New Roman" panose="02020603050405020304" pitchFamily="18" charset="0"/>
                <a:ea typeface="Times New Roman" panose="02020603050405020304" pitchFamily="18" charset="0"/>
              </a:rPr>
              <a:t>         </a:t>
            </a:r>
            <a:r>
              <a:rPr lang="en-US" sz="1400" b="1" dirty="0" err="1">
                <a:latin typeface="Times New Roman" panose="02020603050405020304" pitchFamily="18" charset="0"/>
                <a:ea typeface="Times New Roman" panose="02020603050405020304" pitchFamily="18" charset="0"/>
              </a:rPr>
              <a:t>Sivaratri</a:t>
            </a:r>
            <a:r>
              <a:rPr lang="en-US" sz="1400" b="1" dirty="0">
                <a:latin typeface="Times New Roman" panose="02020603050405020304" pitchFamily="18" charset="0"/>
                <a:ea typeface="Times New Roman" panose="02020603050405020304" pitchFamily="18" charset="0"/>
              </a:rPr>
              <a:t> Siva Nageswara Rao</a:t>
            </a:r>
            <a:r>
              <a:rPr lang="en-US" sz="1400" b="1" dirty="0">
                <a:effectLst/>
                <a:latin typeface="Times New Roman" panose="02020603050405020304" pitchFamily="18" charset="0"/>
                <a:ea typeface="Times New Roman" panose="02020603050405020304" pitchFamily="18" charset="0"/>
              </a:rPr>
              <a:t>, </a:t>
            </a:r>
            <a:r>
              <a:rPr lang="en-US" sz="1400" b="1" baseline="-25000" dirty="0" err="1">
                <a:effectLst/>
                <a:latin typeface="Times New Roman" panose="02020603050405020304" pitchFamily="18" charset="0"/>
                <a:ea typeface="Times New Roman" panose="02020603050405020304" pitchFamily="18" charset="0"/>
              </a:rPr>
              <a:t>M.Tech</a:t>
            </a:r>
            <a:r>
              <a:rPr lang="en-US" sz="1400" b="1" baseline="-25000" dirty="0">
                <a:effectLst/>
                <a:latin typeface="Times New Roman" panose="02020603050405020304" pitchFamily="18" charset="0"/>
                <a:ea typeface="Times New Roman" panose="02020603050405020304" pitchFamily="18" charset="0"/>
              </a:rPr>
              <a:t>.,</a:t>
            </a:r>
          </a:p>
          <a:p>
            <a:pPr marR="292735" algn="ctr">
              <a:lnSpc>
                <a:spcPct val="150000"/>
              </a:lnSpc>
              <a:spcBef>
                <a:spcPts val="50"/>
              </a:spcBef>
              <a:spcAft>
                <a:spcPts val="0"/>
              </a:spcAft>
            </a:pPr>
            <a:r>
              <a:rPr lang="en-US" sz="1400" b="1" dirty="0">
                <a:effectLst/>
                <a:latin typeface="Times New Roman" panose="02020603050405020304" pitchFamily="18" charset="0"/>
                <a:ea typeface="Times New Roman" panose="02020603050405020304" pitchFamily="18" charset="0"/>
              </a:rPr>
              <a:t>    </a:t>
            </a:r>
            <a:r>
              <a:rPr lang="en-IN" sz="1550" spc="-5" dirty="0">
                <a:latin typeface="Times New Roman"/>
                <a:cs typeface="Times New Roman"/>
              </a:rPr>
              <a:t>Professor</a:t>
            </a:r>
            <a:r>
              <a:rPr lang="en-IN" sz="1550" b="1" dirty="0">
                <a:latin typeface="Times New Roman"/>
                <a:cs typeface="Times New Roman"/>
              </a:rPr>
              <a:t> </a:t>
            </a:r>
            <a:endParaRPr lang="en-IN" sz="1550" dirty="0">
              <a:latin typeface="Times New Roman"/>
              <a:cs typeface="Times New Roman"/>
            </a:endParaRPr>
          </a:p>
          <a:p>
            <a:pPr algn="ctr">
              <a:lnSpc>
                <a:spcPct val="100000"/>
              </a:lnSpc>
              <a:spcBef>
                <a:spcPts val="1070"/>
              </a:spcBef>
            </a:pPr>
            <a:r>
              <a:rPr sz="1550" spc="-10" dirty="0">
                <a:solidFill>
                  <a:srgbClr val="888888"/>
                </a:solidFill>
                <a:latin typeface="Times New Roman"/>
                <a:cs typeface="Times New Roman"/>
              </a:rPr>
              <a:t>Department</a:t>
            </a:r>
            <a:r>
              <a:rPr sz="1550" spc="290" dirty="0">
                <a:solidFill>
                  <a:srgbClr val="888888"/>
                </a:solidFill>
                <a:latin typeface="Times New Roman"/>
                <a:cs typeface="Times New Roman"/>
              </a:rPr>
              <a:t> </a:t>
            </a:r>
            <a:r>
              <a:rPr sz="1550" spc="25" dirty="0">
                <a:solidFill>
                  <a:srgbClr val="888888"/>
                </a:solidFill>
                <a:latin typeface="Times New Roman"/>
                <a:cs typeface="Times New Roman"/>
              </a:rPr>
              <a:t>of</a:t>
            </a:r>
            <a:r>
              <a:rPr sz="1550" spc="-15" dirty="0">
                <a:solidFill>
                  <a:srgbClr val="888888"/>
                </a:solidFill>
                <a:latin typeface="Times New Roman"/>
                <a:cs typeface="Times New Roman"/>
              </a:rPr>
              <a:t> </a:t>
            </a:r>
            <a:r>
              <a:rPr sz="1550" spc="10" dirty="0">
                <a:solidFill>
                  <a:srgbClr val="888888"/>
                </a:solidFill>
                <a:latin typeface="Times New Roman"/>
                <a:cs typeface="Times New Roman"/>
              </a:rPr>
              <a:t>Computer</a:t>
            </a:r>
            <a:r>
              <a:rPr sz="1550" spc="135" dirty="0">
                <a:solidFill>
                  <a:srgbClr val="888888"/>
                </a:solidFill>
                <a:latin typeface="Times New Roman"/>
                <a:cs typeface="Times New Roman"/>
              </a:rPr>
              <a:t> </a:t>
            </a:r>
            <a:r>
              <a:rPr sz="1550" spc="-15" dirty="0">
                <a:solidFill>
                  <a:srgbClr val="888888"/>
                </a:solidFill>
                <a:latin typeface="Times New Roman"/>
                <a:cs typeface="Times New Roman"/>
              </a:rPr>
              <a:t>Science</a:t>
            </a:r>
            <a:r>
              <a:rPr sz="1550" spc="260" dirty="0">
                <a:solidFill>
                  <a:srgbClr val="888888"/>
                </a:solidFill>
                <a:latin typeface="Times New Roman"/>
                <a:cs typeface="Times New Roman"/>
              </a:rPr>
              <a:t> </a:t>
            </a:r>
            <a:r>
              <a:rPr sz="1550" spc="-10" dirty="0">
                <a:solidFill>
                  <a:srgbClr val="888888"/>
                </a:solidFill>
                <a:latin typeface="Times New Roman"/>
                <a:cs typeface="Times New Roman"/>
              </a:rPr>
              <a:t>and</a:t>
            </a:r>
            <a:r>
              <a:rPr sz="1550" spc="90" dirty="0">
                <a:solidFill>
                  <a:srgbClr val="888888"/>
                </a:solidFill>
                <a:latin typeface="Times New Roman"/>
                <a:cs typeface="Times New Roman"/>
              </a:rPr>
              <a:t> </a:t>
            </a:r>
            <a:r>
              <a:rPr sz="1550" spc="-10" dirty="0">
                <a:solidFill>
                  <a:srgbClr val="888888"/>
                </a:solidFill>
                <a:latin typeface="Times New Roman"/>
                <a:cs typeface="Times New Roman"/>
              </a:rPr>
              <a:t>Engineering,</a:t>
            </a:r>
            <a:endParaRPr sz="1550" dirty="0">
              <a:latin typeface="Times New Roman"/>
              <a:cs typeface="Times New Roman"/>
            </a:endParaRPr>
          </a:p>
          <a:p>
            <a:pPr marL="12700" marR="5080" algn="ctr">
              <a:lnSpc>
                <a:spcPct val="173700"/>
              </a:lnSpc>
              <a:spcBef>
                <a:spcPts val="70"/>
              </a:spcBef>
            </a:pPr>
            <a:r>
              <a:rPr sz="1550" spc="-5" dirty="0">
                <a:solidFill>
                  <a:srgbClr val="888888"/>
                </a:solidFill>
                <a:latin typeface="Times New Roman"/>
                <a:cs typeface="Times New Roman"/>
              </a:rPr>
              <a:t>Narasaraopeta</a:t>
            </a:r>
            <a:r>
              <a:rPr sz="1550" dirty="0">
                <a:solidFill>
                  <a:srgbClr val="888888"/>
                </a:solidFill>
                <a:latin typeface="Times New Roman"/>
                <a:cs typeface="Times New Roman"/>
              </a:rPr>
              <a:t> </a:t>
            </a:r>
            <a:r>
              <a:rPr sz="1550" spc="-10" dirty="0">
                <a:solidFill>
                  <a:srgbClr val="888888"/>
                </a:solidFill>
                <a:latin typeface="Times New Roman"/>
                <a:cs typeface="Times New Roman"/>
              </a:rPr>
              <a:t>Engineering</a:t>
            </a:r>
            <a:r>
              <a:rPr sz="1550" spc="-5" dirty="0">
                <a:solidFill>
                  <a:srgbClr val="888888"/>
                </a:solidFill>
                <a:latin typeface="Times New Roman"/>
                <a:cs typeface="Times New Roman"/>
              </a:rPr>
              <a:t> </a:t>
            </a:r>
            <a:r>
              <a:rPr sz="1550" spc="5" dirty="0">
                <a:solidFill>
                  <a:srgbClr val="888888"/>
                </a:solidFill>
                <a:latin typeface="Times New Roman"/>
                <a:cs typeface="Times New Roman"/>
              </a:rPr>
              <a:t>College </a:t>
            </a:r>
            <a:r>
              <a:rPr sz="1550" spc="10" dirty="0">
                <a:solidFill>
                  <a:srgbClr val="888888"/>
                </a:solidFill>
                <a:latin typeface="Times New Roman"/>
                <a:cs typeface="Times New Roman"/>
              </a:rPr>
              <a:t>(Autonomous), </a:t>
            </a:r>
            <a:r>
              <a:rPr sz="1550" spc="-375" dirty="0">
                <a:solidFill>
                  <a:srgbClr val="888888"/>
                </a:solidFill>
                <a:latin typeface="Times New Roman"/>
                <a:cs typeface="Times New Roman"/>
              </a:rPr>
              <a:t> </a:t>
            </a:r>
            <a:r>
              <a:rPr sz="1550" spc="-5" dirty="0">
                <a:solidFill>
                  <a:srgbClr val="888888"/>
                </a:solidFill>
                <a:latin typeface="Times New Roman"/>
                <a:cs typeface="Times New Roman"/>
              </a:rPr>
              <a:t>Narasaraopet-</a:t>
            </a:r>
            <a:r>
              <a:rPr sz="1550" spc="285" dirty="0">
                <a:solidFill>
                  <a:srgbClr val="888888"/>
                </a:solidFill>
                <a:latin typeface="Times New Roman"/>
                <a:cs typeface="Times New Roman"/>
              </a:rPr>
              <a:t> </a:t>
            </a:r>
            <a:r>
              <a:rPr sz="1550" spc="30" dirty="0">
                <a:solidFill>
                  <a:srgbClr val="888888"/>
                </a:solidFill>
                <a:latin typeface="Times New Roman"/>
                <a:cs typeface="Times New Roman"/>
              </a:rPr>
              <a:t>522</a:t>
            </a:r>
            <a:r>
              <a:rPr sz="1550" spc="20" dirty="0">
                <a:solidFill>
                  <a:srgbClr val="888888"/>
                </a:solidFill>
                <a:latin typeface="Times New Roman"/>
                <a:cs typeface="Times New Roman"/>
              </a:rPr>
              <a:t> </a:t>
            </a:r>
            <a:r>
              <a:rPr sz="1550" spc="30" dirty="0">
                <a:solidFill>
                  <a:srgbClr val="888888"/>
                </a:solidFill>
                <a:latin typeface="Times New Roman"/>
                <a:cs typeface="Times New Roman"/>
              </a:rPr>
              <a:t>601.</a:t>
            </a:r>
            <a:endParaRPr sz="1550" dirty="0">
              <a:latin typeface="Times New Roman"/>
              <a:cs typeface="Times New Roman"/>
            </a:endParaRPr>
          </a:p>
        </p:txBody>
      </p:sp>
      <p:pic>
        <p:nvPicPr>
          <p:cNvPr id="10" name="object 10"/>
          <p:cNvPicPr/>
          <p:nvPr/>
        </p:nvPicPr>
        <p:blipFill>
          <a:blip r:embed="rId2" cstate="print"/>
          <a:stretch>
            <a:fillRect/>
          </a:stretch>
        </p:blipFill>
        <p:spPr>
          <a:xfrm>
            <a:off x="66675" y="131344"/>
            <a:ext cx="3648074" cy="505326"/>
          </a:xfrm>
          <a:prstGeom prst="rect">
            <a:avLst/>
          </a:prstGeom>
        </p:spPr>
      </p:pic>
      <p:sp>
        <p:nvSpPr>
          <p:cNvPr id="11" name="object 11"/>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a:t>
            </a:r>
            <a:r>
              <a:rPr spc="5" dirty="0"/>
              <a:t>-</a:t>
            </a:r>
            <a:r>
              <a:rPr lang="en-IN" spc="5" dirty="0"/>
              <a:t>11</a:t>
            </a:r>
            <a:r>
              <a:rPr spc="5" dirty="0"/>
              <a:t>-202</a:t>
            </a:r>
            <a:r>
              <a:rPr lang="en-IN" spc="5" dirty="0"/>
              <a:t>5</a:t>
            </a:r>
            <a:endParaRPr spc="5" dirty="0"/>
          </a:p>
        </p:txBody>
      </p:sp>
      <p:sp>
        <p:nvSpPr>
          <p:cNvPr id="12" name="object 12"/>
          <p:cNvSpPr txBox="1"/>
          <p:nvPr/>
        </p:nvSpPr>
        <p:spPr>
          <a:xfrm>
            <a:off x="4350002" y="6451048"/>
            <a:ext cx="907797"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0"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13" name="object 13"/>
          <p:cNvSpPr txBox="1"/>
          <p:nvPr/>
        </p:nvSpPr>
        <p:spPr>
          <a:xfrm>
            <a:off x="5530658" y="6451049"/>
            <a:ext cx="1078421" cy="179536"/>
          </a:xfrm>
          <a:prstGeom prst="rect">
            <a:avLst/>
          </a:prstGeom>
        </p:spPr>
        <p:txBody>
          <a:bodyPr vert="horz" wrap="square" lIns="0" tIns="0" rIns="0" bIns="0" rtlCol="0">
            <a:spAutoFit/>
          </a:bodyPr>
          <a:lstStyle/>
          <a:p>
            <a:pPr marL="12700">
              <a:lnSpc>
                <a:spcPts val="1410"/>
              </a:lnSpc>
            </a:pPr>
            <a:r>
              <a:rPr sz="1200" spc="-20" dirty="0">
                <a:solidFill>
                  <a:srgbClr val="888888"/>
                </a:solidFill>
                <a:latin typeface="Times New Roman"/>
                <a:cs typeface="Times New Roman"/>
              </a:rPr>
              <a:t>Batch</a:t>
            </a:r>
            <a:r>
              <a:rPr sz="1200" spc="80"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CB4</a:t>
            </a:r>
            <a:endParaRPr sz="1200" dirty="0">
              <a:latin typeface="Times New Roman"/>
              <a:cs typeface="Times New Roman"/>
            </a:endParaRPr>
          </a:p>
        </p:txBody>
      </p:sp>
      <p:sp>
        <p:nvSpPr>
          <p:cNvPr id="14" name="object 14"/>
          <p:cNvSpPr txBox="1"/>
          <p:nvPr/>
        </p:nvSpPr>
        <p:spPr>
          <a:xfrm>
            <a:off x="6609080" y="6451049"/>
            <a:ext cx="1242060" cy="194310"/>
          </a:xfrm>
          <a:prstGeom prst="rect">
            <a:avLst/>
          </a:prstGeom>
        </p:spPr>
        <p:txBody>
          <a:bodyPr vert="horz" wrap="square" lIns="0" tIns="0" rIns="0" bIns="0" rtlCol="0">
            <a:spAutoFit/>
          </a:bodyPr>
          <a:lstStyle/>
          <a:p>
            <a:pPr marL="12700">
              <a:lnSpc>
                <a:spcPts val="1410"/>
              </a:lnSpc>
            </a:pPr>
            <a:r>
              <a:rPr sz="1200" spc="-35" dirty="0">
                <a:solidFill>
                  <a:srgbClr val="888888"/>
                </a:solidFill>
                <a:latin typeface="Times New Roman"/>
                <a:cs typeface="Times New Roman"/>
              </a:rPr>
              <a:t>Department</a:t>
            </a:r>
            <a:r>
              <a:rPr sz="1200" spc="295" dirty="0">
                <a:solidFill>
                  <a:srgbClr val="888888"/>
                </a:solidFill>
                <a:latin typeface="Times New Roman"/>
                <a:cs typeface="Times New Roman"/>
              </a:rPr>
              <a:t> </a:t>
            </a:r>
            <a:r>
              <a:rPr sz="1200" dirty="0">
                <a:solidFill>
                  <a:srgbClr val="888888"/>
                </a:solidFill>
                <a:latin typeface="Times New Roman"/>
                <a:cs typeface="Times New Roman"/>
              </a:rPr>
              <a:t>of</a:t>
            </a:r>
            <a:r>
              <a:rPr sz="1200" spc="25" dirty="0">
                <a:solidFill>
                  <a:srgbClr val="888888"/>
                </a:solidFill>
                <a:latin typeface="Times New Roman"/>
                <a:cs typeface="Times New Roman"/>
              </a:rPr>
              <a:t> </a:t>
            </a:r>
            <a:r>
              <a:rPr sz="1200" spc="5" dirty="0">
                <a:solidFill>
                  <a:srgbClr val="888888"/>
                </a:solidFill>
                <a:latin typeface="Times New Roman"/>
                <a:cs typeface="Times New Roman"/>
              </a:rPr>
              <a:t>CSE</a:t>
            </a:r>
            <a:endParaRPr sz="1200" dirty="0">
              <a:latin typeface="Times New Roman"/>
              <a:cs typeface="Times New Roman"/>
            </a:endParaRPr>
          </a:p>
        </p:txBody>
      </p:sp>
      <p:sp>
        <p:nvSpPr>
          <p:cNvPr id="15" name="object 15"/>
          <p:cNvSpPr txBox="1"/>
          <p:nvPr/>
        </p:nvSpPr>
        <p:spPr>
          <a:xfrm>
            <a:off x="11184001" y="6451049"/>
            <a:ext cx="101600" cy="179536"/>
          </a:xfrm>
          <a:prstGeom prst="rect">
            <a:avLst/>
          </a:prstGeom>
        </p:spPr>
        <p:txBody>
          <a:bodyPr vert="horz" wrap="square" lIns="0" tIns="0" rIns="0" bIns="0" rtlCol="0">
            <a:spAutoFit/>
          </a:bodyPr>
          <a:lstStyle/>
          <a:p>
            <a:pPr marL="12700">
              <a:lnSpc>
                <a:spcPts val="1410"/>
              </a:lnSpc>
            </a:pPr>
            <a:r>
              <a:rPr lang="en-US" sz="1200" dirty="0">
                <a:solidFill>
                  <a:srgbClr val="888888"/>
                </a:solidFill>
                <a:latin typeface="Times New Roman"/>
                <a:cs typeface="Times New Roman"/>
              </a:rPr>
              <a:t>1</a:t>
            </a:r>
            <a:endParaRPr sz="12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59096" y="529843"/>
            <a:ext cx="2621280" cy="701040"/>
          </a:xfrm>
          <a:prstGeom prst="rect">
            <a:avLst/>
          </a:prstGeom>
        </p:spPr>
        <p:txBody>
          <a:bodyPr vert="horz" wrap="square" lIns="0" tIns="16510" rIns="0" bIns="0" rtlCol="0">
            <a:spAutoFit/>
          </a:bodyPr>
          <a:lstStyle/>
          <a:p>
            <a:pPr marL="12700">
              <a:lnSpc>
                <a:spcPct val="100000"/>
              </a:lnSpc>
              <a:spcBef>
                <a:spcPts val="130"/>
              </a:spcBef>
            </a:pPr>
            <a:r>
              <a:rPr spc="15" dirty="0"/>
              <a:t>OUTLINE</a:t>
            </a:r>
          </a:p>
        </p:txBody>
      </p:sp>
      <p:sp>
        <p:nvSpPr>
          <p:cNvPr id="4" name="object 4"/>
          <p:cNvSpPr txBox="1">
            <a:spLocks noGrp="1"/>
          </p:cNvSpPr>
          <p:nvPr>
            <p:ph type="dt" sz="half" idx="6"/>
          </p:nvPr>
        </p:nvSpPr>
        <p:spPr>
          <a:xfrm>
            <a:off x="917575" y="6451049"/>
            <a:ext cx="911225" cy="359073"/>
          </a:xfrm>
          <a:prstGeom prst="rect">
            <a:avLst/>
          </a:prstGeom>
        </p:spPr>
        <p:txBody>
          <a:bodyPr vert="horz" wrap="square" lIns="0" tIns="0" rIns="0" bIns="0" rtlCol="0">
            <a:spAutoFit/>
          </a:bodyPr>
          <a:lstStyle/>
          <a:p>
            <a:pPr marL="12700">
              <a:lnSpc>
                <a:spcPts val="1410"/>
              </a:lnSpc>
            </a:pPr>
            <a:r>
              <a:rPr lang="en-US" spc="5" dirty="0"/>
              <a:t> </a:t>
            </a:r>
            <a:r>
              <a:rPr lang="en-IN" spc="5" dirty="0"/>
              <a:t>10-11-2025</a:t>
            </a:r>
          </a:p>
          <a:p>
            <a:pPr marL="12700">
              <a:lnSpc>
                <a:spcPts val="1410"/>
              </a:lnSpc>
            </a:pPr>
            <a:endParaRPr spc="5" dirty="0"/>
          </a:p>
        </p:txBody>
      </p:sp>
      <p:sp>
        <p:nvSpPr>
          <p:cNvPr id="5" name="object 5"/>
          <p:cNvSpPr txBox="1"/>
          <p:nvPr/>
        </p:nvSpPr>
        <p:spPr>
          <a:xfrm>
            <a:off x="4426329" y="6451049"/>
            <a:ext cx="911225"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1" y="6451049"/>
            <a:ext cx="1037656"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CB4</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2</a:t>
            </a:fld>
            <a:endParaRPr dirty="0"/>
          </a:p>
        </p:txBody>
      </p:sp>
      <p:sp>
        <p:nvSpPr>
          <p:cNvPr id="3" name="object 3"/>
          <p:cNvSpPr txBox="1"/>
          <p:nvPr/>
        </p:nvSpPr>
        <p:spPr>
          <a:xfrm>
            <a:off x="917574" y="1173924"/>
            <a:ext cx="5559426" cy="4961615"/>
          </a:xfrm>
          <a:prstGeom prst="rect">
            <a:avLst/>
          </a:prstGeom>
        </p:spPr>
        <p:txBody>
          <a:bodyPr vert="horz" wrap="square" lIns="0" tIns="62230" rIns="0" bIns="0" rtlCol="0">
            <a:spAutoFit/>
          </a:bodyPr>
          <a:lstStyle/>
          <a:p>
            <a:pPr marL="527685" indent="-514984">
              <a:lnSpc>
                <a:spcPct val="100000"/>
              </a:lnSpc>
              <a:spcBef>
                <a:spcPts val="490"/>
              </a:spcBef>
              <a:buAutoNum type="arabicPeriod"/>
              <a:tabLst>
                <a:tab pos="527050" algn="l"/>
                <a:tab pos="527685" algn="l"/>
              </a:tabLst>
            </a:pPr>
            <a:r>
              <a:rPr sz="2000" dirty="0">
                <a:latin typeface="Times New Roman"/>
                <a:cs typeface="Times New Roman"/>
              </a:rPr>
              <a:t>Abstract</a:t>
            </a:r>
          </a:p>
          <a:p>
            <a:pPr marL="527685" indent="-514984">
              <a:lnSpc>
                <a:spcPct val="100000"/>
              </a:lnSpc>
              <a:spcBef>
                <a:spcPts val="390"/>
              </a:spcBef>
              <a:buAutoNum type="arabicPeriod"/>
              <a:tabLst>
                <a:tab pos="527050" algn="l"/>
                <a:tab pos="527685" algn="l"/>
              </a:tabLst>
            </a:pPr>
            <a:r>
              <a:rPr sz="2000" dirty="0">
                <a:latin typeface="Times New Roman"/>
                <a:cs typeface="Times New Roman"/>
              </a:rPr>
              <a:t>Introduction</a:t>
            </a:r>
          </a:p>
          <a:p>
            <a:pPr marL="527685" indent="-514984">
              <a:spcBef>
                <a:spcPts val="320"/>
              </a:spcBef>
              <a:buFontTx/>
              <a:buAutoNum type="arabicPeriod"/>
              <a:tabLst>
                <a:tab pos="527050" algn="l"/>
                <a:tab pos="527685" algn="l"/>
              </a:tabLst>
            </a:pPr>
            <a:r>
              <a:rPr lang="en-IN" sz="2000" dirty="0">
                <a:latin typeface="Times New Roman"/>
                <a:cs typeface="Times New Roman"/>
              </a:rPr>
              <a:t>Problem</a:t>
            </a:r>
            <a:r>
              <a:rPr lang="en-IN" sz="2000" spc="-75" dirty="0">
                <a:latin typeface="Times New Roman"/>
                <a:cs typeface="Times New Roman"/>
              </a:rPr>
              <a:t> </a:t>
            </a:r>
            <a:r>
              <a:rPr lang="en-IN" sz="2000" spc="-10" dirty="0">
                <a:latin typeface="Times New Roman"/>
                <a:cs typeface="Times New Roman"/>
              </a:rPr>
              <a:t>Statement</a:t>
            </a:r>
            <a:endParaRPr sz="2000" dirty="0">
              <a:latin typeface="Times New Roman"/>
              <a:cs typeface="Times New Roman"/>
            </a:endParaRPr>
          </a:p>
          <a:p>
            <a:pPr marL="527685" indent="-514984">
              <a:lnSpc>
                <a:spcPct val="100000"/>
              </a:lnSpc>
              <a:spcBef>
                <a:spcPts val="395"/>
              </a:spcBef>
              <a:buAutoNum type="arabicPeriod"/>
              <a:tabLst>
                <a:tab pos="527050" algn="l"/>
                <a:tab pos="527685" algn="l"/>
              </a:tabLst>
            </a:pPr>
            <a:r>
              <a:rPr lang="en-IN" sz="2000" spc="5" dirty="0">
                <a:latin typeface="Times New Roman"/>
                <a:cs typeface="Times New Roman"/>
              </a:rPr>
              <a:t>Literature</a:t>
            </a:r>
            <a:r>
              <a:rPr lang="en-IN" sz="2000" spc="-95" dirty="0">
                <a:latin typeface="Times New Roman"/>
                <a:cs typeface="Times New Roman"/>
              </a:rPr>
              <a:t> </a:t>
            </a:r>
            <a:r>
              <a:rPr lang="en-IN" sz="2000" spc="-15" dirty="0">
                <a:latin typeface="Times New Roman"/>
                <a:cs typeface="Times New Roman"/>
              </a:rPr>
              <a:t>Survey</a:t>
            </a:r>
            <a:endParaRPr sz="2000" dirty="0">
              <a:latin typeface="Times New Roman"/>
              <a:cs typeface="Times New Roman"/>
            </a:endParaRPr>
          </a:p>
          <a:p>
            <a:pPr marL="527685" indent="-514984">
              <a:lnSpc>
                <a:spcPct val="100000"/>
              </a:lnSpc>
              <a:spcBef>
                <a:spcPts val="320"/>
              </a:spcBef>
              <a:buAutoNum type="arabicPeriod"/>
              <a:tabLst>
                <a:tab pos="527050" algn="l"/>
                <a:tab pos="527685" algn="l"/>
              </a:tabLst>
            </a:pPr>
            <a:r>
              <a:rPr lang="en-IN" sz="2000" spc="5" dirty="0">
                <a:latin typeface="Times New Roman"/>
                <a:cs typeface="Times New Roman"/>
              </a:rPr>
              <a:t>Research</a:t>
            </a:r>
            <a:r>
              <a:rPr lang="en-IN" sz="2000" spc="-110" dirty="0">
                <a:latin typeface="Times New Roman"/>
                <a:cs typeface="Times New Roman"/>
              </a:rPr>
              <a:t> </a:t>
            </a:r>
            <a:r>
              <a:rPr lang="en-IN" sz="2000" spc="-5" dirty="0">
                <a:latin typeface="Times New Roman"/>
                <a:cs typeface="Times New Roman"/>
              </a:rPr>
              <a:t>Gaps </a:t>
            </a:r>
            <a:endParaRPr sz="2000" dirty="0">
              <a:latin typeface="Times New Roman"/>
              <a:cs typeface="Times New Roman"/>
            </a:endParaRPr>
          </a:p>
          <a:p>
            <a:pPr marL="527685" indent="-514984">
              <a:lnSpc>
                <a:spcPct val="100000"/>
              </a:lnSpc>
              <a:spcBef>
                <a:spcPts val="390"/>
              </a:spcBef>
              <a:buAutoNum type="arabicPeriod"/>
              <a:tabLst>
                <a:tab pos="527050" algn="l"/>
                <a:tab pos="527685" algn="l"/>
              </a:tabLst>
            </a:pPr>
            <a:r>
              <a:rPr sz="2000" spc="-5" dirty="0">
                <a:latin typeface="Times New Roman"/>
                <a:cs typeface="Times New Roman"/>
              </a:rPr>
              <a:t>Objectives</a:t>
            </a:r>
            <a:endParaRPr sz="2000" dirty="0">
              <a:latin typeface="Times New Roman"/>
              <a:cs typeface="Times New Roman"/>
            </a:endParaRPr>
          </a:p>
          <a:p>
            <a:pPr marL="527685" indent="-514984">
              <a:spcBef>
                <a:spcPts val="320"/>
              </a:spcBef>
              <a:buFontTx/>
              <a:buAutoNum type="arabicPeriod"/>
              <a:tabLst>
                <a:tab pos="527050" algn="l"/>
                <a:tab pos="527685" algn="l"/>
              </a:tabLst>
            </a:pPr>
            <a:r>
              <a:rPr lang="en-IN" sz="2000" spc="-15" dirty="0">
                <a:latin typeface="Times New Roman"/>
                <a:cs typeface="Times New Roman"/>
              </a:rPr>
              <a:t>Methodology</a:t>
            </a:r>
            <a:r>
              <a:rPr lang="en-IN" sz="2000" spc="-20" dirty="0">
                <a:latin typeface="Times New Roman"/>
                <a:cs typeface="Times New Roman"/>
              </a:rPr>
              <a:t> </a:t>
            </a:r>
            <a:endParaRPr sz="2000" dirty="0">
              <a:latin typeface="Times New Roman"/>
              <a:cs typeface="Times New Roman"/>
            </a:endParaRPr>
          </a:p>
          <a:p>
            <a:pPr marL="527685" indent="-514984">
              <a:lnSpc>
                <a:spcPct val="100000"/>
              </a:lnSpc>
              <a:spcBef>
                <a:spcPts val="390"/>
              </a:spcBef>
              <a:buAutoNum type="arabicPeriod"/>
              <a:tabLst>
                <a:tab pos="527050" algn="l"/>
                <a:tab pos="527685" algn="l"/>
              </a:tabLst>
            </a:pPr>
            <a:r>
              <a:rPr lang="en-IN" sz="2000" spc="-10" dirty="0">
                <a:latin typeface="Times New Roman"/>
                <a:cs typeface="Times New Roman"/>
              </a:rPr>
              <a:t>Block</a:t>
            </a:r>
            <a:r>
              <a:rPr lang="en-IN" sz="2000" spc="-5" dirty="0">
                <a:latin typeface="Times New Roman"/>
                <a:cs typeface="Times New Roman"/>
              </a:rPr>
              <a:t> </a:t>
            </a:r>
            <a:r>
              <a:rPr lang="en-IN" sz="2000" spc="-20" dirty="0">
                <a:latin typeface="Times New Roman"/>
                <a:cs typeface="Times New Roman"/>
              </a:rPr>
              <a:t>Diagram</a:t>
            </a:r>
            <a:r>
              <a:rPr lang="en-IN" sz="2000" spc="90" dirty="0">
                <a:latin typeface="Times New Roman"/>
                <a:cs typeface="Times New Roman"/>
              </a:rPr>
              <a:t> </a:t>
            </a:r>
            <a:r>
              <a:rPr lang="en-IN" sz="2000" dirty="0">
                <a:latin typeface="Times New Roman"/>
                <a:cs typeface="Times New Roman"/>
              </a:rPr>
              <a:t>/</a:t>
            </a:r>
            <a:r>
              <a:rPr lang="en-IN" sz="2000" spc="20" dirty="0">
                <a:latin typeface="Times New Roman"/>
                <a:cs typeface="Times New Roman"/>
              </a:rPr>
              <a:t> </a:t>
            </a:r>
            <a:r>
              <a:rPr lang="en-IN" sz="2000" spc="-25" dirty="0">
                <a:latin typeface="Times New Roman"/>
                <a:cs typeface="Times New Roman"/>
              </a:rPr>
              <a:t>Flow</a:t>
            </a:r>
            <a:r>
              <a:rPr lang="en-IN" sz="2000" spc="40" dirty="0">
                <a:latin typeface="Times New Roman"/>
                <a:cs typeface="Times New Roman"/>
              </a:rPr>
              <a:t> </a:t>
            </a:r>
            <a:r>
              <a:rPr lang="en-IN" sz="2000" spc="-20" dirty="0">
                <a:latin typeface="Times New Roman"/>
                <a:cs typeface="Times New Roman"/>
              </a:rPr>
              <a:t>Diagram </a:t>
            </a:r>
            <a:endParaRPr sz="2000" dirty="0">
              <a:latin typeface="Times New Roman"/>
              <a:cs typeface="Times New Roman"/>
            </a:endParaRPr>
          </a:p>
          <a:p>
            <a:pPr marL="527685" indent="-514984">
              <a:lnSpc>
                <a:spcPct val="100000"/>
              </a:lnSpc>
              <a:spcBef>
                <a:spcPts val="320"/>
              </a:spcBef>
              <a:buAutoNum type="arabicPeriod"/>
              <a:tabLst>
                <a:tab pos="527050" algn="l"/>
                <a:tab pos="527685" algn="l"/>
              </a:tabLst>
            </a:pPr>
            <a:r>
              <a:rPr sz="2000" spc="-10" dirty="0">
                <a:latin typeface="Times New Roman"/>
                <a:cs typeface="Times New Roman"/>
              </a:rPr>
              <a:t>Implementation</a:t>
            </a:r>
            <a:endParaRPr sz="2000" dirty="0">
              <a:latin typeface="Times New Roman"/>
              <a:cs typeface="Times New Roman"/>
            </a:endParaRPr>
          </a:p>
          <a:p>
            <a:pPr marL="527685" indent="-514984">
              <a:lnSpc>
                <a:spcPct val="100000"/>
              </a:lnSpc>
              <a:spcBef>
                <a:spcPts val="395"/>
              </a:spcBef>
              <a:buAutoNum type="arabicPeriod"/>
              <a:tabLst>
                <a:tab pos="527050" algn="l"/>
                <a:tab pos="527685" algn="l"/>
              </a:tabLst>
            </a:pPr>
            <a:r>
              <a:rPr sz="2000" dirty="0">
                <a:latin typeface="Times New Roman"/>
                <a:cs typeface="Times New Roman"/>
              </a:rPr>
              <a:t>R</a:t>
            </a:r>
            <a:r>
              <a:rPr sz="2000" spc="15" dirty="0">
                <a:latin typeface="Times New Roman"/>
                <a:cs typeface="Times New Roman"/>
              </a:rPr>
              <a:t>e</a:t>
            </a:r>
            <a:r>
              <a:rPr sz="2000" spc="-30" dirty="0">
                <a:latin typeface="Times New Roman"/>
                <a:cs typeface="Times New Roman"/>
              </a:rPr>
              <a:t>s</a:t>
            </a:r>
            <a:r>
              <a:rPr sz="2000" dirty="0">
                <a:latin typeface="Times New Roman"/>
                <a:cs typeface="Times New Roman"/>
              </a:rPr>
              <a:t>u</a:t>
            </a:r>
            <a:r>
              <a:rPr sz="2000" spc="-55" dirty="0">
                <a:latin typeface="Times New Roman"/>
                <a:cs typeface="Times New Roman"/>
              </a:rPr>
              <a:t>l</a:t>
            </a:r>
            <a:r>
              <a:rPr sz="2000" spc="20" dirty="0">
                <a:latin typeface="Times New Roman"/>
                <a:cs typeface="Times New Roman"/>
              </a:rPr>
              <a:t>t</a:t>
            </a:r>
            <a:r>
              <a:rPr sz="2000" dirty="0">
                <a:latin typeface="Times New Roman"/>
                <a:cs typeface="Times New Roman"/>
              </a:rPr>
              <a:t>s</a:t>
            </a:r>
            <a:r>
              <a:rPr sz="2000" spc="45" dirty="0">
                <a:latin typeface="Times New Roman"/>
                <a:cs typeface="Times New Roman"/>
              </a:rPr>
              <a:t> </a:t>
            </a:r>
            <a:r>
              <a:rPr sz="2000" spc="20" dirty="0">
                <a:latin typeface="Times New Roman"/>
                <a:cs typeface="Times New Roman"/>
              </a:rPr>
              <a:t>a</a:t>
            </a:r>
            <a:r>
              <a:rPr sz="2000" dirty="0">
                <a:latin typeface="Times New Roman"/>
                <a:cs typeface="Times New Roman"/>
              </a:rPr>
              <a:t>nd</a:t>
            </a:r>
            <a:r>
              <a:rPr sz="2000" spc="-155" dirty="0">
                <a:latin typeface="Times New Roman"/>
                <a:cs typeface="Times New Roman"/>
              </a:rPr>
              <a:t> </a:t>
            </a:r>
            <a:r>
              <a:rPr sz="2000" spc="-30" dirty="0">
                <a:latin typeface="Times New Roman"/>
                <a:cs typeface="Times New Roman"/>
              </a:rPr>
              <a:t>A</a:t>
            </a:r>
            <a:r>
              <a:rPr sz="2000" dirty="0">
                <a:latin typeface="Times New Roman"/>
                <a:cs typeface="Times New Roman"/>
              </a:rPr>
              <a:t>n</a:t>
            </a:r>
            <a:r>
              <a:rPr sz="2000" spc="20" dirty="0">
                <a:latin typeface="Times New Roman"/>
                <a:cs typeface="Times New Roman"/>
              </a:rPr>
              <a:t>a</a:t>
            </a:r>
            <a:r>
              <a:rPr sz="2000" spc="-55" dirty="0">
                <a:latin typeface="Times New Roman"/>
                <a:cs typeface="Times New Roman"/>
              </a:rPr>
              <a:t>l</a:t>
            </a:r>
            <a:r>
              <a:rPr sz="2000" dirty="0">
                <a:latin typeface="Times New Roman"/>
                <a:cs typeface="Times New Roman"/>
              </a:rPr>
              <a:t>y</a:t>
            </a:r>
            <a:r>
              <a:rPr sz="2000" spc="-30" dirty="0">
                <a:latin typeface="Times New Roman"/>
                <a:cs typeface="Times New Roman"/>
              </a:rPr>
              <a:t>s</a:t>
            </a:r>
            <a:r>
              <a:rPr sz="2000" spc="-55" dirty="0">
                <a:latin typeface="Times New Roman"/>
                <a:cs typeface="Times New Roman"/>
              </a:rPr>
              <a:t>i</a:t>
            </a:r>
            <a:r>
              <a:rPr sz="2000" dirty="0">
                <a:latin typeface="Times New Roman"/>
                <a:cs typeface="Times New Roman"/>
              </a:rPr>
              <a:t>s</a:t>
            </a:r>
          </a:p>
          <a:p>
            <a:pPr marL="527685" indent="-514984">
              <a:lnSpc>
                <a:spcPct val="100000"/>
              </a:lnSpc>
              <a:spcBef>
                <a:spcPts val="315"/>
              </a:spcBef>
              <a:buAutoNum type="arabicPeriod"/>
              <a:tabLst>
                <a:tab pos="527050" algn="l"/>
                <a:tab pos="527685" algn="l"/>
              </a:tabLst>
            </a:pPr>
            <a:r>
              <a:rPr sz="2000" spc="-15" dirty="0">
                <a:latin typeface="Times New Roman"/>
                <a:cs typeface="Times New Roman"/>
              </a:rPr>
              <a:t>Conclusion</a:t>
            </a:r>
            <a:r>
              <a:rPr sz="2000" spc="65" dirty="0">
                <a:latin typeface="Times New Roman"/>
                <a:cs typeface="Times New Roman"/>
              </a:rPr>
              <a:t> </a:t>
            </a:r>
            <a:r>
              <a:rPr sz="2000" dirty="0">
                <a:latin typeface="Times New Roman"/>
                <a:cs typeface="Times New Roman"/>
              </a:rPr>
              <a:t>&amp;</a:t>
            </a:r>
            <a:r>
              <a:rPr sz="2000" spc="15" dirty="0">
                <a:latin typeface="Times New Roman"/>
                <a:cs typeface="Times New Roman"/>
              </a:rPr>
              <a:t> </a:t>
            </a:r>
            <a:r>
              <a:rPr sz="2000" spc="-5" dirty="0">
                <a:latin typeface="Times New Roman"/>
                <a:cs typeface="Times New Roman"/>
              </a:rPr>
              <a:t>Future</a:t>
            </a:r>
            <a:r>
              <a:rPr sz="2000" spc="15" dirty="0">
                <a:latin typeface="Times New Roman"/>
                <a:cs typeface="Times New Roman"/>
              </a:rPr>
              <a:t> </a:t>
            </a:r>
            <a:r>
              <a:rPr sz="2000" spc="-20" dirty="0">
                <a:latin typeface="Times New Roman"/>
                <a:cs typeface="Times New Roman"/>
              </a:rPr>
              <a:t>Scope</a:t>
            </a:r>
            <a:endParaRPr sz="2000" dirty="0">
              <a:latin typeface="Times New Roman"/>
              <a:cs typeface="Times New Roman"/>
            </a:endParaRPr>
          </a:p>
          <a:p>
            <a:pPr marL="527685" indent="-514984">
              <a:lnSpc>
                <a:spcPct val="100000"/>
              </a:lnSpc>
              <a:spcBef>
                <a:spcPts val="400"/>
              </a:spcBef>
              <a:buAutoNum type="arabicPeriod"/>
              <a:tabLst>
                <a:tab pos="527050" algn="l"/>
                <a:tab pos="527685" algn="l"/>
              </a:tabLst>
            </a:pPr>
            <a:r>
              <a:rPr sz="2000" spc="10" dirty="0">
                <a:latin typeface="Times New Roman"/>
                <a:cs typeface="Times New Roman"/>
              </a:rPr>
              <a:t>References</a:t>
            </a:r>
            <a:endParaRPr sz="2000" dirty="0">
              <a:latin typeface="Times New Roman"/>
              <a:cs typeface="Times New Roman"/>
            </a:endParaRPr>
          </a:p>
          <a:p>
            <a:pPr marL="527685" indent="-514984">
              <a:lnSpc>
                <a:spcPct val="100000"/>
              </a:lnSpc>
              <a:spcBef>
                <a:spcPts val="315"/>
              </a:spcBef>
              <a:buAutoNum type="arabicPeriod"/>
              <a:tabLst>
                <a:tab pos="527050" algn="l"/>
                <a:tab pos="527685" algn="l"/>
              </a:tabLst>
            </a:pPr>
            <a:r>
              <a:rPr sz="2000" spc="-30" dirty="0">
                <a:latin typeface="Times New Roman"/>
                <a:cs typeface="Times New Roman"/>
              </a:rPr>
              <a:t>Q</a:t>
            </a:r>
            <a:r>
              <a:rPr sz="2000" dirty="0">
                <a:latin typeface="Times New Roman"/>
                <a:cs typeface="Times New Roman"/>
              </a:rPr>
              <a:t>u</a:t>
            </a:r>
            <a:r>
              <a:rPr sz="2000" spc="20" dirty="0">
                <a:latin typeface="Times New Roman"/>
                <a:cs typeface="Times New Roman"/>
              </a:rPr>
              <a:t>e</a:t>
            </a:r>
            <a:r>
              <a:rPr sz="2000" spc="-30" dirty="0">
                <a:latin typeface="Times New Roman"/>
                <a:cs typeface="Times New Roman"/>
              </a:rPr>
              <a:t>s</a:t>
            </a:r>
            <a:r>
              <a:rPr sz="2000" spc="20" dirty="0">
                <a:latin typeface="Times New Roman"/>
                <a:cs typeface="Times New Roman"/>
              </a:rPr>
              <a:t>t</a:t>
            </a:r>
            <a:r>
              <a:rPr sz="2000" spc="-55" dirty="0">
                <a:latin typeface="Times New Roman"/>
                <a:cs typeface="Times New Roman"/>
              </a:rPr>
              <a:t>i</a:t>
            </a:r>
            <a:r>
              <a:rPr sz="2000" dirty="0">
                <a:latin typeface="Times New Roman"/>
                <a:cs typeface="Times New Roman"/>
              </a:rPr>
              <a:t>on</a:t>
            </a:r>
            <a:r>
              <a:rPr sz="2000" spc="70" dirty="0">
                <a:latin typeface="Times New Roman"/>
                <a:cs typeface="Times New Roman"/>
              </a:rPr>
              <a:t> </a:t>
            </a:r>
            <a:r>
              <a:rPr sz="2000" spc="20" dirty="0">
                <a:latin typeface="Times New Roman"/>
                <a:cs typeface="Times New Roman"/>
              </a:rPr>
              <a:t>a</a:t>
            </a:r>
            <a:r>
              <a:rPr sz="2000" dirty="0">
                <a:latin typeface="Times New Roman"/>
                <a:cs typeface="Times New Roman"/>
              </a:rPr>
              <a:t>nd</a:t>
            </a:r>
            <a:r>
              <a:rPr sz="2000" spc="-155" dirty="0">
                <a:latin typeface="Times New Roman"/>
                <a:cs typeface="Times New Roman"/>
              </a:rPr>
              <a:t> </a:t>
            </a:r>
            <a:r>
              <a:rPr sz="2000" spc="-30" dirty="0">
                <a:latin typeface="Times New Roman"/>
                <a:cs typeface="Times New Roman"/>
              </a:rPr>
              <a:t>A</a:t>
            </a:r>
            <a:r>
              <a:rPr sz="2000" dirty="0">
                <a:latin typeface="Times New Roman"/>
                <a:cs typeface="Times New Roman"/>
              </a:rPr>
              <a:t>n</a:t>
            </a:r>
            <a:r>
              <a:rPr sz="2000" spc="-30" dirty="0">
                <a:latin typeface="Times New Roman"/>
                <a:cs typeface="Times New Roman"/>
              </a:rPr>
              <a:t>sw</a:t>
            </a:r>
            <a:r>
              <a:rPr sz="2000" spc="20" dirty="0">
                <a:latin typeface="Times New Roman"/>
                <a:cs typeface="Times New Roman"/>
              </a:rPr>
              <a:t>e</a:t>
            </a:r>
            <a:r>
              <a:rPr sz="2000" dirty="0">
                <a:latin typeface="Times New Roman"/>
                <a:cs typeface="Times New Roman"/>
              </a:rPr>
              <a:t>rs</a:t>
            </a:r>
          </a:p>
          <a:p>
            <a:pPr marL="527685" indent="-514984">
              <a:lnSpc>
                <a:spcPct val="100000"/>
              </a:lnSpc>
              <a:spcBef>
                <a:spcPts val="395"/>
              </a:spcBef>
              <a:buAutoNum type="arabicPeriod"/>
              <a:tabLst>
                <a:tab pos="527050" algn="l"/>
                <a:tab pos="527685" algn="l"/>
              </a:tabLst>
            </a:pPr>
            <a:r>
              <a:rPr sz="2000" spc="-10" dirty="0">
                <a:latin typeface="Times New Roman"/>
                <a:cs typeface="Times New Roman"/>
              </a:rPr>
              <a:t>Acknowledgements</a:t>
            </a:r>
            <a:endParaRPr sz="20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20590" y="529843"/>
            <a:ext cx="3096895" cy="701040"/>
          </a:xfrm>
          <a:prstGeom prst="rect">
            <a:avLst/>
          </a:prstGeom>
        </p:spPr>
        <p:txBody>
          <a:bodyPr vert="horz" wrap="square" lIns="0" tIns="16510" rIns="0" bIns="0" rtlCol="0">
            <a:spAutoFit/>
          </a:bodyPr>
          <a:lstStyle/>
          <a:p>
            <a:pPr marL="12700">
              <a:lnSpc>
                <a:spcPct val="100000"/>
              </a:lnSpc>
              <a:spcBef>
                <a:spcPts val="130"/>
              </a:spcBef>
            </a:pPr>
            <a:r>
              <a:rPr spc="45" dirty="0"/>
              <a:t>A</a:t>
            </a:r>
            <a:r>
              <a:rPr spc="60" dirty="0"/>
              <a:t>B</a:t>
            </a:r>
            <a:r>
              <a:rPr spc="20" dirty="0"/>
              <a:t>S</a:t>
            </a:r>
            <a:r>
              <a:rPr spc="-10" dirty="0"/>
              <a:t>T</a:t>
            </a:r>
            <a:r>
              <a:rPr spc="45" dirty="0"/>
              <a:t>RA</a:t>
            </a:r>
            <a:r>
              <a:rPr spc="-25" dirty="0"/>
              <a:t>C</a:t>
            </a:r>
            <a:r>
              <a:rPr spc="20" dirty="0"/>
              <a:t>T</a:t>
            </a:r>
          </a:p>
        </p:txBody>
      </p:sp>
      <p:sp>
        <p:nvSpPr>
          <p:cNvPr id="4" name="object 4"/>
          <p:cNvSpPr txBox="1">
            <a:spLocks noGrp="1"/>
          </p:cNvSpPr>
          <p:nvPr>
            <p:ph type="dt" sz="half" idx="6"/>
          </p:nvPr>
        </p:nvSpPr>
        <p:spPr>
          <a:xfrm>
            <a:off x="917575" y="6451049"/>
            <a:ext cx="911225" cy="359073"/>
          </a:xfrm>
          <a:prstGeom prst="rect">
            <a:avLst/>
          </a:prstGeom>
        </p:spPr>
        <p:txBody>
          <a:bodyPr vert="horz" wrap="square" lIns="0" tIns="0" rIns="0" bIns="0" rtlCol="0">
            <a:spAutoFit/>
          </a:bodyPr>
          <a:lstStyle/>
          <a:p>
            <a:pPr marL="12700">
              <a:lnSpc>
                <a:spcPts val="1410"/>
              </a:lnSpc>
            </a:pPr>
            <a:r>
              <a:rPr lang="en-US" spc="5" dirty="0"/>
              <a:t> </a:t>
            </a:r>
            <a:r>
              <a:rPr lang="en-IN" spc="5" dirty="0"/>
              <a:t>10-11-2025</a:t>
            </a:r>
          </a:p>
          <a:p>
            <a:pPr marL="12700">
              <a:lnSpc>
                <a:spcPts val="1410"/>
              </a:lnSpc>
            </a:pPr>
            <a:endParaRPr spc="5" dirty="0"/>
          </a:p>
        </p:txBody>
      </p:sp>
      <p:sp>
        <p:nvSpPr>
          <p:cNvPr id="5" name="object 5"/>
          <p:cNvSpPr txBox="1"/>
          <p:nvPr/>
        </p:nvSpPr>
        <p:spPr>
          <a:xfrm>
            <a:off x="4426330" y="6451049"/>
            <a:ext cx="1037656"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US"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1" y="6451049"/>
            <a:ext cx="1037656"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CB4</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3</a:t>
            </a:fld>
            <a:endParaRPr dirty="0"/>
          </a:p>
        </p:txBody>
      </p:sp>
      <p:sp>
        <p:nvSpPr>
          <p:cNvPr id="3" name="object 3"/>
          <p:cNvSpPr txBox="1"/>
          <p:nvPr/>
        </p:nvSpPr>
        <p:spPr>
          <a:xfrm>
            <a:off x="917575" y="1450022"/>
            <a:ext cx="10320655" cy="415242"/>
          </a:xfrm>
          <a:prstGeom prst="rect">
            <a:avLst/>
          </a:prstGeom>
        </p:spPr>
        <p:txBody>
          <a:bodyPr vert="horz" wrap="square" lIns="0" tIns="54610" rIns="0" bIns="0" rtlCol="0">
            <a:spAutoFit/>
          </a:bodyPr>
          <a:lstStyle/>
          <a:p>
            <a:pPr marL="12700" marR="5080">
              <a:lnSpc>
                <a:spcPct val="90200"/>
              </a:lnSpc>
              <a:spcBef>
                <a:spcPts val="430"/>
              </a:spcBef>
            </a:pPr>
            <a:endParaRPr sz="2600" dirty="0">
              <a:latin typeface="Calibri"/>
              <a:cs typeface="Calibri"/>
            </a:endParaRPr>
          </a:p>
        </p:txBody>
      </p:sp>
      <p:sp>
        <p:nvSpPr>
          <p:cNvPr id="10" name="TextBox 9">
            <a:extLst>
              <a:ext uri="{FF2B5EF4-FFF2-40B4-BE49-F238E27FC236}">
                <a16:creationId xmlns:a16="http://schemas.microsoft.com/office/drawing/2014/main" id="{621D70BB-5239-88AF-01A6-8B000EAE3E37}"/>
              </a:ext>
            </a:extLst>
          </p:cNvPr>
          <p:cNvSpPr txBox="1"/>
          <p:nvPr/>
        </p:nvSpPr>
        <p:spPr>
          <a:xfrm>
            <a:off x="757150" y="1249844"/>
            <a:ext cx="10677699" cy="5016758"/>
          </a:xfrm>
          <a:prstGeom prst="rect">
            <a:avLst/>
          </a:prstGeom>
          <a:noFill/>
        </p:spPr>
        <p:txBody>
          <a:bodyPr wrap="square">
            <a:spAutoFit/>
          </a:bodyPr>
          <a:lstStyle/>
          <a:p>
            <a:pPr algn="just"/>
            <a:r>
              <a:rPr lang="en-US" sz="2000" dirty="0">
                <a:latin typeface="Times New Roman" pitchFamily="18" charset="0"/>
                <a:cs typeface="Times New Roman" pitchFamily="18" charset="0"/>
              </a:rPr>
              <a:t> </a:t>
            </a:r>
            <a:r>
              <a:rPr lang="en-IN" sz="2000" dirty="0">
                <a:latin typeface="Times New Roman" pitchFamily="18" charset="0"/>
                <a:cs typeface="Times New Roman" pitchFamily="18" charset="0"/>
              </a:rPr>
              <a:t>    </a:t>
            </a:r>
            <a:r>
              <a:rPr lang="en-US" sz="2000" dirty="0">
                <a:effectLst/>
                <a:latin typeface="Times New Roman" panose="02020603050405020304" pitchFamily="18" charset="0"/>
                <a:ea typeface="Times New Roman" panose="02020603050405020304" pitchFamily="18" charset="0"/>
              </a:rPr>
              <a:t>Water quality plays a vital role in protecting public health, agriculture, and ecosystems, yet real-time monitoring remains a challenge due to irregular sampling, regional variations, and the limitations of traditional prediction models. To address these gaps, this paper introduces AquaNet-X, a novel deep hybrid ensemble model designed for accurate and scalable Water Quality Index (WQI) prediction. AquaNet-X integrates Bidirectional GRU for sequential dynamics, Transformer layers for capturing long-range feature dependencies, and boosting algorithms (XGBoost and LightGBM) for nonlinear tabular interactions, all unified through a Meta-CatBoost stacked learner. This architecture balances the strengths of deep learning and ensemble methods, reducing variance while enhancing interpretability and robustness. This experiment was conducted using a real-world Indian surface water quality dataset with multivariate parameters such as pH, DO, BOD, and temperature, preprocessed into supervised sequences. The proposed model achieving 99.94% prediction accuracy, thereby setting a new state-of-the-art benchmark, significantly outperforming existing baselines. The novelty of AquaNet-X lies in its meta-layered hybridization strategy, which enables cross-regional adaptability, real-time deployment, and reliable generalization across diverse water sources. It is better way to predict water quality index in different regions based on multivariate features. AquaNet-X is a next-generation tool for intelligent water quality monitoring and sustainable water governance.</a:t>
            </a:r>
            <a:endParaRPr lang="en-IN" sz="20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05834" y="529843"/>
            <a:ext cx="4526915" cy="701040"/>
          </a:xfrm>
          <a:prstGeom prst="rect">
            <a:avLst/>
          </a:prstGeom>
        </p:spPr>
        <p:txBody>
          <a:bodyPr vert="horz" wrap="square" lIns="0" tIns="16510" rIns="0" bIns="0" rtlCol="0">
            <a:spAutoFit/>
          </a:bodyPr>
          <a:lstStyle/>
          <a:p>
            <a:pPr marL="12700">
              <a:lnSpc>
                <a:spcPct val="100000"/>
              </a:lnSpc>
              <a:spcBef>
                <a:spcPts val="130"/>
              </a:spcBef>
            </a:pPr>
            <a:r>
              <a:rPr spc="15" dirty="0"/>
              <a:t>INTRODUCTION</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10-11-2025</a:t>
            </a:r>
          </a:p>
        </p:txBody>
      </p:sp>
      <p:sp>
        <p:nvSpPr>
          <p:cNvPr id="5" name="object 5"/>
          <p:cNvSpPr txBox="1"/>
          <p:nvPr/>
        </p:nvSpPr>
        <p:spPr>
          <a:xfrm>
            <a:off x="4419600" y="6451049"/>
            <a:ext cx="91440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615240" y="6451049"/>
            <a:ext cx="1014160"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CB4</a:t>
            </a:r>
            <a:endParaRPr sz="1200" dirty="0">
              <a:latin typeface="Times New Roman"/>
              <a:cs typeface="Times New Roman"/>
            </a:endParaRPr>
          </a:p>
        </p:txBody>
      </p:sp>
      <p:sp>
        <p:nvSpPr>
          <p:cNvPr id="7" name="object 7"/>
          <p:cNvSpPr txBox="1">
            <a:spLocks noGrp="1"/>
          </p:cNvSpPr>
          <p:nvPr>
            <p:ph type="ftr" sz="quarter" idx="5"/>
          </p:nvPr>
        </p:nvSpPr>
        <p:spPr>
          <a:xfrm>
            <a:off x="7060120" y="6432472"/>
            <a:ext cx="1242059" cy="194309"/>
          </a:xfrm>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4</a:t>
            </a:fld>
            <a:endParaRPr dirty="0"/>
          </a:p>
        </p:txBody>
      </p:sp>
      <p:sp>
        <p:nvSpPr>
          <p:cNvPr id="3" name="object 3"/>
          <p:cNvSpPr txBox="1"/>
          <p:nvPr/>
        </p:nvSpPr>
        <p:spPr>
          <a:xfrm>
            <a:off x="700149" y="1259499"/>
            <a:ext cx="10791702" cy="4711546"/>
          </a:xfrm>
          <a:prstGeom prst="rect">
            <a:avLst/>
          </a:prstGeom>
        </p:spPr>
        <p:txBody>
          <a:bodyPr vert="horz" wrap="square" lIns="0" tIns="99060" rIns="0" bIns="0" rtlCol="0">
            <a:spAutoFit/>
          </a:bodyPr>
          <a:lstStyle/>
          <a:p>
            <a:pPr marL="241300" indent="-229235" algn="just">
              <a:lnSpc>
                <a:spcPct val="100000"/>
              </a:lnSpc>
              <a:spcBef>
                <a:spcPts val="780"/>
              </a:spcBef>
              <a:buFont typeface="Arial MT"/>
              <a:buChar char="•"/>
              <a:tabLst>
                <a:tab pos="241935" algn="l"/>
                <a:tab pos="2888615" algn="l"/>
              </a:tabLst>
            </a:pPr>
            <a:r>
              <a:rPr lang="en-US" sz="2100" dirty="0">
                <a:latin typeface="Times New Roman" panose="02020603050405020304" pitchFamily="18" charset="0"/>
                <a:cs typeface="Times New Roman" panose="02020603050405020304" pitchFamily="18" charset="0"/>
              </a:rPr>
              <a:t>Water quality plays a vital role in public health, agriculture, and ecological balance. Continuous monitoring helps detect contamination and maintain sustainable water management systems.</a:t>
            </a:r>
          </a:p>
          <a:p>
            <a:pPr marL="241300" indent="-229235" algn="just">
              <a:lnSpc>
                <a:spcPct val="100000"/>
              </a:lnSpc>
              <a:spcBef>
                <a:spcPts val="780"/>
              </a:spcBef>
              <a:buFont typeface="Arial MT"/>
              <a:buChar char="•"/>
              <a:tabLst>
                <a:tab pos="241935" algn="l"/>
                <a:tab pos="2888615" algn="l"/>
              </a:tabLst>
            </a:pPr>
            <a:r>
              <a:rPr lang="en-US" sz="2100" dirty="0">
                <a:latin typeface="Times New Roman" panose="02020603050405020304" pitchFamily="18" charset="0"/>
                <a:cs typeface="Times New Roman" panose="02020603050405020304" pitchFamily="18" charset="0"/>
              </a:rPr>
              <a:t>Traditional water quality monitoring methods are slow, manual and time-consuming, while existing machine learning models lack interpretability and adaptability, often failing to handle diverse environmental and sensor data variations across different water conditions.</a:t>
            </a:r>
          </a:p>
          <a:p>
            <a:pPr marL="241300" indent="-229235" algn="just">
              <a:lnSpc>
                <a:spcPct val="100000"/>
              </a:lnSpc>
              <a:spcBef>
                <a:spcPts val="780"/>
              </a:spcBef>
              <a:buFont typeface="Arial MT"/>
              <a:buChar char="•"/>
              <a:tabLst>
                <a:tab pos="241935" algn="l"/>
                <a:tab pos="2888615" algn="l"/>
              </a:tabLst>
            </a:pPr>
            <a:r>
              <a:rPr lang="en-IN" sz="2100" dirty="0">
                <a:latin typeface="Times New Roman" panose="02020603050405020304" pitchFamily="18" charset="0"/>
                <a:cs typeface="Times New Roman" panose="02020603050405020304" pitchFamily="18" charset="0"/>
              </a:rPr>
              <a:t>To overcome these issues, AquaNet-X integrates Bi-GRU, Transformer, XGBoost, and LightGBM within a Meta-CatBoost stacked framework for improved adaptability and robustness.</a:t>
            </a:r>
          </a:p>
          <a:p>
            <a:pPr marL="241300" indent="-229235" algn="just">
              <a:lnSpc>
                <a:spcPct val="100000"/>
              </a:lnSpc>
              <a:spcBef>
                <a:spcPts val="780"/>
              </a:spcBef>
              <a:buFont typeface="Arial MT"/>
              <a:buChar char="•"/>
              <a:tabLst>
                <a:tab pos="241935" algn="l"/>
                <a:tab pos="2888615" algn="l"/>
              </a:tabLst>
            </a:pPr>
            <a:r>
              <a:rPr lang="en-US" sz="2100" dirty="0">
                <a:latin typeface="Times New Roman" panose="02020603050405020304" pitchFamily="18" charset="0"/>
                <a:cs typeface="Times New Roman" panose="02020603050405020304" pitchFamily="18" charset="0"/>
              </a:rPr>
              <a:t>The Bi-GRU model captures short-to-mid temporal dependencies, the Transformer handles long-range feature interactions, and the boosting models address nonlinear tabular relationships. The Meta-CatBoost layer fuses these insights for improved precision and reliability.</a:t>
            </a:r>
            <a:endParaRPr lang="en-IN" sz="2100" dirty="0">
              <a:latin typeface="Times New Roman" panose="02020603050405020304" pitchFamily="18" charset="0"/>
              <a:cs typeface="Times New Roman" panose="02020603050405020304" pitchFamily="18" charset="0"/>
            </a:endParaRPr>
          </a:p>
          <a:p>
            <a:pPr marL="241300" indent="-229235" algn="just">
              <a:spcBef>
                <a:spcPts val="780"/>
              </a:spcBef>
              <a:buFont typeface="Arial MT"/>
              <a:buChar char="•"/>
              <a:tabLst>
                <a:tab pos="241935" algn="l"/>
                <a:tab pos="2888615" algn="l"/>
              </a:tabLst>
            </a:pPr>
            <a:r>
              <a:rPr lang="en-US" sz="2100" dirty="0">
                <a:latin typeface="Times New Roman" panose="02020603050405020304" pitchFamily="18" charset="0"/>
                <a:cs typeface="Times New Roman" panose="02020603050405020304" pitchFamily="18" charset="0"/>
              </a:rPr>
              <a:t>Trained on real Indian surface water data (pH, DO, BOD, Temperature, etc.), the model achieves high accuracy and demonstrates high scalability, adaptability to noisy and regionally diverse data, and readiness for IoT-enabled real-time water quality monitoring.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5601" y="529843"/>
            <a:ext cx="6598920" cy="701040"/>
          </a:xfrm>
          <a:prstGeom prst="rect">
            <a:avLst/>
          </a:prstGeom>
        </p:spPr>
        <p:txBody>
          <a:bodyPr vert="horz" wrap="square" lIns="0" tIns="16510" rIns="0" bIns="0" rtlCol="0">
            <a:spAutoFit/>
          </a:bodyPr>
          <a:lstStyle/>
          <a:p>
            <a:pPr marL="12700">
              <a:lnSpc>
                <a:spcPct val="100000"/>
              </a:lnSpc>
              <a:spcBef>
                <a:spcPts val="130"/>
              </a:spcBef>
            </a:pPr>
            <a:r>
              <a:rPr spc="20" dirty="0"/>
              <a:t>PROBLEM</a:t>
            </a:r>
            <a:r>
              <a:rPr spc="-240" dirty="0"/>
              <a:t> </a:t>
            </a:r>
            <a:r>
              <a:rPr spc="-55" dirty="0"/>
              <a:t>STATEMENT</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10-11-2025</a:t>
            </a:r>
          </a:p>
        </p:txBody>
      </p:sp>
      <p:sp>
        <p:nvSpPr>
          <p:cNvPr id="5" name="object 5"/>
          <p:cNvSpPr txBox="1"/>
          <p:nvPr/>
        </p:nvSpPr>
        <p:spPr>
          <a:xfrm>
            <a:off x="4426330" y="6451049"/>
            <a:ext cx="90767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1" y="6451049"/>
            <a:ext cx="1037655"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CB4</a:t>
            </a:r>
            <a:endParaRPr sz="1200" dirty="0">
              <a:latin typeface="Times New Roman"/>
              <a:cs typeface="Times New Roman"/>
            </a:endParaRPr>
          </a:p>
        </p:txBody>
      </p:sp>
      <p:sp>
        <p:nvSpPr>
          <p:cNvPr id="7" name="object 7"/>
          <p:cNvSpPr txBox="1">
            <a:spLocks noGrp="1"/>
          </p:cNvSpPr>
          <p:nvPr>
            <p:ph type="ftr" sz="quarter" idx="5"/>
          </p:nvPr>
        </p:nvSpPr>
        <p:spPr>
          <a:xfrm>
            <a:off x="6794881" y="6451049"/>
            <a:ext cx="1242059" cy="194309"/>
          </a:xfrm>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5</a:t>
            </a:fld>
            <a:endParaRPr dirty="0"/>
          </a:p>
        </p:txBody>
      </p:sp>
      <p:sp>
        <p:nvSpPr>
          <p:cNvPr id="10" name="TextBox 9">
            <a:extLst>
              <a:ext uri="{FF2B5EF4-FFF2-40B4-BE49-F238E27FC236}">
                <a16:creationId xmlns:a16="http://schemas.microsoft.com/office/drawing/2014/main" id="{8F3F7C4C-E9CF-C66E-B7DA-DBCCAAD90C3A}"/>
              </a:ext>
            </a:extLst>
          </p:cNvPr>
          <p:cNvSpPr txBox="1"/>
          <p:nvPr/>
        </p:nvSpPr>
        <p:spPr>
          <a:xfrm>
            <a:off x="375125" y="1259499"/>
            <a:ext cx="11441750" cy="5262979"/>
          </a:xfrm>
          <a:prstGeom prst="rect">
            <a:avLst/>
          </a:prstGeom>
          <a:noFill/>
        </p:spPr>
        <p:txBody>
          <a:bodyPr wrap="square">
            <a:spAutoFit/>
          </a:bodyPr>
          <a:lstStyle/>
          <a:p>
            <a:pPr marL="342900" indent="-342900">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Lack of Real-Time Monitoring:</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Traditional water quality assessment depends on manual sampling and laboratory testing, which delays detection of contamination and prevents timely action.</a:t>
            </a:r>
          </a:p>
          <a:p>
            <a:pPr marL="342900" indent="-342900">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Poor Model Generalization:</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Existing machine learning models often fail to perform consistently across regions because of variations in environmental factors and sensor data.</a:t>
            </a:r>
          </a:p>
          <a:p>
            <a:pPr marL="342900" indent="-342900">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Limited Interpretability and Adaptability:</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Deep learning models like LSTM or GRU often overfit small or irregular environmental datasets, providing limited interpretability, adaptability and trustworthiness.</a:t>
            </a:r>
          </a:p>
          <a:p>
            <a:pPr marL="342900" indent="-342900">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Scalability Constraints:</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Most predictive frameworks are not optimized for large-scale or real-time data from IoT and sensor networks, limiting their deployment in smart water management systems.</a:t>
            </a:r>
          </a:p>
          <a:p>
            <a:pPr marL="342900" indent="-342900">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Need for a Robust Hybrid Framework:</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There is a growing demand for an ensemble-based model that effectively integrates temporal, spatial, and nonlinear dependencies to deliver accurate, explainable, and real-time Water Quality Index (WQI) forecasts.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10026" y="283463"/>
            <a:ext cx="5518785" cy="632460"/>
          </a:xfrm>
          <a:prstGeom prst="rect">
            <a:avLst/>
          </a:prstGeom>
        </p:spPr>
        <p:txBody>
          <a:bodyPr vert="horz" wrap="square" lIns="0" tIns="16510" rIns="0" bIns="0" rtlCol="0">
            <a:spAutoFit/>
          </a:bodyPr>
          <a:lstStyle/>
          <a:p>
            <a:pPr marL="12700">
              <a:lnSpc>
                <a:spcPct val="100000"/>
              </a:lnSpc>
              <a:spcBef>
                <a:spcPts val="130"/>
              </a:spcBef>
            </a:pPr>
            <a:r>
              <a:rPr sz="3950" spc="-30" dirty="0"/>
              <a:t>LITERATURE</a:t>
            </a:r>
            <a:r>
              <a:rPr sz="3950" spc="250" dirty="0"/>
              <a:t> </a:t>
            </a:r>
            <a:r>
              <a:rPr sz="3950" spc="-30" dirty="0"/>
              <a:t>SURVEY</a:t>
            </a:r>
            <a:endParaRPr sz="3950"/>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a:t>
            </a:r>
            <a:r>
              <a:rPr spc="5" dirty="0"/>
              <a:t>-202</a:t>
            </a:r>
            <a:r>
              <a:rPr lang="en-IN" spc="5" dirty="0"/>
              <a:t>5</a:t>
            </a:r>
            <a:endParaRPr spc="5" dirty="0"/>
          </a:p>
        </p:txBody>
      </p:sp>
      <p:sp>
        <p:nvSpPr>
          <p:cNvPr id="5" name="object 5"/>
          <p:cNvSpPr txBox="1"/>
          <p:nvPr/>
        </p:nvSpPr>
        <p:spPr>
          <a:xfrm>
            <a:off x="4426330" y="6451049"/>
            <a:ext cx="90767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86400" y="6451049"/>
            <a:ext cx="1037655"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CB4</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6</a:t>
            </a:fld>
            <a:endParaRPr dirty="0"/>
          </a:p>
        </p:txBody>
      </p:sp>
      <p:graphicFrame>
        <p:nvGraphicFramePr>
          <p:cNvPr id="12" name="Table 3">
            <a:extLst>
              <a:ext uri="{FF2B5EF4-FFF2-40B4-BE49-F238E27FC236}">
                <a16:creationId xmlns:a16="http://schemas.microsoft.com/office/drawing/2014/main" id="{0B2DBF82-339B-B352-3719-DA8B4BA8CA70}"/>
              </a:ext>
            </a:extLst>
          </p:cNvPr>
          <p:cNvGraphicFramePr>
            <a:graphicFrameLocks noGrp="1"/>
          </p:cNvGraphicFramePr>
          <p:nvPr>
            <p:extLst>
              <p:ext uri="{D42A27DB-BD31-4B8C-83A1-F6EECF244321}">
                <p14:modId xmlns:p14="http://schemas.microsoft.com/office/powerpoint/2010/main" val="1788868233"/>
              </p:ext>
            </p:extLst>
          </p:nvPr>
        </p:nvGraphicFramePr>
        <p:xfrm>
          <a:off x="285750" y="895650"/>
          <a:ext cx="11620500" cy="5558819"/>
        </p:xfrm>
        <a:graphic>
          <a:graphicData uri="http://schemas.openxmlformats.org/drawingml/2006/table">
            <a:tbl>
              <a:tblPr firstRow="1" bandRow="1"/>
              <a:tblGrid>
                <a:gridCol w="457200">
                  <a:extLst>
                    <a:ext uri="{9D8B030D-6E8A-4147-A177-3AD203B41FA5}">
                      <a16:colId xmlns:a16="http://schemas.microsoft.com/office/drawing/2014/main" val="166576671"/>
                    </a:ext>
                  </a:extLst>
                </a:gridCol>
                <a:gridCol w="2209800">
                  <a:extLst>
                    <a:ext uri="{9D8B030D-6E8A-4147-A177-3AD203B41FA5}">
                      <a16:colId xmlns:a16="http://schemas.microsoft.com/office/drawing/2014/main" val="946789180"/>
                    </a:ext>
                  </a:extLst>
                </a:gridCol>
                <a:gridCol w="1676400">
                  <a:extLst>
                    <a:ext uri="{9D8B030D-6E8A-4147-A177-3AD203B41FA5}">
                      <a16:colId xmlns:a16="http://schemas.microsoft.com/office/drawing/2014/main" val="3483638722"/>
                    </a:ext>
                  </a:extLst>
                </a:gridCol>
                <a:gridCol w="1676400">
                  <a:extLst>
                    <a:ext uri="{9D8B030D-6E8A-4147-A177-3AD203B41FA5}">
                      <a16:colId xmlns:a16="http://schemas.microsoft.com/office/drawing/2014/main" val="1190061112"/>
                    </a:ext>
                  </a:extLst>
                </a:gridCol>
                <a:gridCol w="1924050">
                  <a:extLst>
                    <a:ext uri="{9D8B030D-6E8A-4147-A177-3AD203B41FA5}">
                      <a16:colId xmlns:a16="http://schemas.microsoft.com/office/drawing/2014/main" val="3469305604"/>
                    </a:ext>
                  </a:extLst>
                </a:gridCol>
                <a:gridCol w="1885950">
                  <a:extLst>
                    <a:ext uri="{9D8B030D-6E8A-4147-A177-3AD203B41FA5}">
                      <a16:colId xmlns:a16="http://schemas.microsoft.com/office/drawing/2014/main" val="3853106642"/>
                    </a:ext>
                  </a:extLst>
                </a:gridCol>
                <a:gridCol w="1790700">
                  <a:extLst>
                    <a:ext uri="{9D8B030D-6E8A-4147-A177-3AD203B41FA5}">
                      <a16:colId xmlns:a16="http://schemas.microsoft.com/office/drawing/2014/main" val="1601472594"/>
                    </a:ext>
                  </a:extLst>
                </a:gridCol>
              </a:tblGrid>
              <a:tr h="0">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dirty="0">
                          <a:solidFill>
                            <a:schemeClr val="tx1"/>
                          </a:solidFill>
                          <a:latin typeface="Times New Roman" panose="02020603050405020304" pitchFamily="18" charset="0"/>
                          <a:cs typeface="Times New Roman" panose="02020603050405020304" pitchFamily="18" charset="0"/>
                        </a:rPr>
                        <a:t>No</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dirty="0">
                          <a:solidFill>
                            <a:schemeClr val="tx1"/>
                          </a:solidFill>
                          <a:latin typeface="Times New Roman" panose="02020603050405020304" pitchFamily="18" charset="0"/>
                          <a:cs typeface="Times New Roman" panose="02020603050405020304" pitchFamily="18" charset="0"/>
                        </a:rPr>
                        <a:t>Title</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a:solidFill>
                            <a:schemeClr val="tx1"/>
                          </a:solidFill>
                          <a:latin typeface="Times New Roman" panose="02020603050405020304" pitchFamily="18" charset="0"/>
                          <a:cs typeface="Times New Roman" panose="02020603050405020304" pitchFamily="18" charset="0"/>
                        </a:rPr>
                        <a:t>Author</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a:solidFill>
                            <a:schemeClr val="tx1"/>
                          </a:solidFill>
                          <a:latin typeface="Times New Roman" panose="02020603050405020304" pitchFamily="18" charset="0"/>
                          <a:cs typeface="Times New Roman" panose="02020603050405020304" pitchFamily="18" charset="0"/>
                        </a:rPr>
                        <a:t>Journal Name &amp; Year</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a:solidFill>
                            <a:schemeClr val="tx1"/>
                          </a:solidFill>
                          <a:latin typeface="Times New Roman" panose="02020603050405020304" pitchFamily="18" charset="0"/>
                          <a:cs typeface="Times New Roman" panose="02020603050405020304" pitchFamily="18" charset="0"/>
                        </a:rPr>
                        <a:t>Methodology Adapted</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a:solidFill>
                            <a:schemeClr val="tx1"/>
                          </a:solidFill>
                          <a:latin typeface="Times New Roman" panose="02020603050405020304" pitchFamily="18" charset="0"/>
                          <a:cs typeface="Times New Roman" panose="02020603050405020304" pitchFamily="18" charset="0"/>
                        </a:rPr>
                        <a:t>Key Findings </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dirty="0">
                          <a:solidFill>
                            <a:schemeClr val="tx1"/>
                          </a:solidFill>
                          <a:latin typeface="Times New Roman" panose="02020603050405020304" pitchFamily="18" charset="0"/>
                          <a:cs typeface="Times New Roman" panose="02020603050405020304" pitchFamily="18" charset="0"/>
                        </a:rPr>
                        <a:t>Gaps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537051210"/>
                  </a:ext>
                </a:extLst>
              </a:tr>
              <a:tr h="828749">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400" dirty="0">
                          <a:latin typeface="Times New Roman" panose="02020603050405020304" pitchFamily="18" charset="0"/>
                          <a:cs typeface="Times New Roman" panose="02020603050405020304" pitchFamily="18" charset="0"/>
                        </a:rPr>
                        <a:t>1</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A Hybrid Deep Learning Model for Water Quality Prediction</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Qiliang</a:t>
                      </a:r>
                      <a:r>
                        <a:rPr lang="en-US" sz="1100" dirty="0">
                          <a:latin typeface="Times New Roman" panose="02020603050405020304" pitchFamily="18" charset="0"/>
                          <a:cs typeface="Times New Roman" panose="02020603050405020304" pitchFamily="18" charset="0"/>
                        </a:rPr>
                        <a:t> Zhu, </a:t>
                      </a:r>
                      <a:r>
                        <a:rPr lang="en-US" sz="1100" dirty="0" err="1">
                          <a:latin typeface="Times New Roman" panose="02020603050405020304" pitchFamily="18" charset="0"/>
                          <a:cs typeface="Times New Roman" panose="02020603050405020304" pitchFamily="18" charset="0"/>
                        </a:rPr>
                        <a:t>Xueting</a:t>
                      </a:r>
                      <a:r>
                        <a:rPr lang="en-US" sz="1100" dirty="0">
                          <a:latin typeface="Times New Roman" panose="02020603050405020304" pitchFamily="18" charset="0"/>
                          <a:cs typeface="Times New Roman" panose="02020603050405020304" pitchFamily="18" charset="0"/>
                        </a:rPr>
                        <a:t> Yu, Liang Zhao, </a:t>
                      </a:r>
                      <a:r>
                        <a:rPr lang="en-US" sz="1100" dirty="0" err="1">
                          <a:latin typeface="Times New Roman" panose="02020603050405020304" pitchFamily="18" charset="0"/>
                          <a:cs typeface="Times New Roman" panose="02020603050405020304" pitchFamily="18" charset="0"/>
                        </a:rPr>
                        <a:t>Linjun</a:t>
                      </a:r>
                      <a:r>
                        <a:rPr lang="en-US" sz="1100" dirty="0">
                          <a:latin typeface="Times New Roman" panose="02020603050405020304" pitchFamily="18" charset="0"/>
                          <a:cs typeface="Times New Roman" panose="02020603050405020304" pitchFamily="18" charset="0"/>
                        </a:rPr>
                        <a:t> Xu</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0" i="0" u="sng" kern="1200" dirty="0">
                          <a:solidFill>
                            <a:schemeClr val="tx1"/>
                          </a:solidFill>
                          <a:effectLst/>
                          <a:latin typeface="Times New Roman" panose="02020603050405020304" pitchFamily="18" charset="0"/>
                          <a:ea typeface="+mn-ea"/>
                          <a:cs typeface="Times New Roman" panose="02020603050405020304" pitchFamily="18" charset="0"/>
                          <a:hlinkClick r:id="rId2"/>
                        </a:rPr>
                        <a:t>https://doi.org/10.1109/ACCESS.2025.3580741</a:t>
                      </a:r>
                      <a:r>
                        <a:rPr lang="en-US" sz="1100" b="0" i="0" u="sng" kern="1200" dirty="0">
                          <a:solidFill>
                            <a:schemeClr val="tx1"/>
                          </a:solidFill>
                          <a:effectLst/>
                          <a:latin typeface="Times New Roman" panose="02020603050405020304" pitchFamily="18" charset="0"/>
                          <a:ea typeface="+mn-ea"/>
                          <a:cs typeface="Times New Roman" panose="02020603050405020304" pitchFamily="18" charset="0"/>
                        </a:rPr>
                        <a:t> &amp;</a:t>
                      </a:r>
                      <a:endParaRPr lang="en-US" sz="1100" dirty="0">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 2025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CEEMDAN + LSTM + CNN + Self-Attention</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Proposed a novel hybrid model combining CEEMDAN, LSTM, CNN, and Self-Attention.</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Less Accuracy and Relatively complex architecture</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925414"/>
                  </a:ext>
                </a:extLst>
              </a:tr>
              <a:tr h="828749">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400" dirty="0">
                          <a:latin typeface="Times New Roman" panose="02020603050405020304" pitchFamily="18" charset="0"/>
                          <a:cs typeface="Times New Roman" panose="02020603050405020304" pitchFamily="18" charset="0"/>
                        </a:rPr>
                        <a:t>2</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Recent Trends in the Quality Module of Sustainable Water Management Models – A Systematic Review</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it-IT" sz="1100" dirty="0">
                          <a:latin typeface="Times New Roman" panose="02020603050405020304" pitchFamily="18" charset="0"/>
                          <a:cs typeface="Times New Roman" panose="02020603050405020304" pitchFamily="18" charset="0"/>
                        </a:rPr>
                        <a:t>C. Subashini, S. Sellamuthu</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hlinkClick r:id="rId3"/>
                        </a:rPr>
                        <a:t>https://doi.org/10.1109/ACCESS.2025.3560783</a:t>
                      </a:r>
                      <a:r>
                        <a:rPr lang="en-US" sz="1100" dirty="0">
                          <a:latin typeface="Times New Roman" panose="02020603050405020304" pitchFamily="18" charset="0"/>
                          <a:cs typeface="Times New Roman" panose="02020603050405020304" pitchFamily="18" charset="0"/>
                        </a:rPr>
                        <a:t> &amp; 2025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Convolutional Neural Network (CNN), ANN, XGBoost</a:t>
                      </a:r>
                    </a:p>
                    <a:p>
                      <a:endParaRPr lang="en-US" sz="1100" dirty="0">
                        <a:latin typeface="Times New Roman" panose="02020603050405020304" pitchFamily="18" charset="0"/>
                        <a:cs typeface="Times New Roman" panose="02020603050405020304" pitchFamily="18" charset="0"/>
                      </a:endParaRPr>
                    </a:p>
                    <a:p>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Ensemble trees were top performers and </a:t>
                      </a:r>
                      <a:r>
                        <a:rPr lang="en-IN" sz="1100" dirty="0">
                          <a:latin typeface="Times New Roman" panose="02020603050405020304" pitchFamily="18" charset="0"/>
                          <a:cs typeface="Times New Roman" panose="02020603050405020304" pitchFamily="18" charset="0"/>
                        </a:rPr>
                        <a:t>enhance water quality prediction, with high accuracy</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 lack of real-time predictions, poor generalizability to rare pollutants, high computational cost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8357853"/>
                  </a:ext>
                </a:extLst>
              </a:tr>
              <a:tr h="1127642">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400" dirty="0">
                          <a:latin typeface="Times New Roman" panose="02020603050405020304" pitchFamily="18" charset="0"/>
                          <a:cs typeface="Times New Roman" panose="02020603050405020304" pitchFamily="18" charset="0"/>
                        </a:rPr>
                        <a:t>3</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Advancing Water Quality Management: An Integrated Approach Using Ensemble Machine Learning and Real-Time Interactive Visualization</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err="1">
                          <a:latin typeface="Times New Roman" panose="02020603050405020304" pitchFamily="18" charset="0"/>
                          <a:cs typeface="Times New Roman" panose="02020603050405020304" pitchFamily="18" charset="0"/>
                        </a:rPr>
                        <a:t>Jigna</a:t>
                      </a:r>
                      <a:r>
                        <a:rPr lang="en-US" sz="1100" dirty="0">
                          <a:latin typeface="Times New Roman" panose="02020603050405020304" pitchFamily="18" charset="0"/>
                          <a:cs typeface="Times New Roman" panose="02020603050405020304" pitchFamily="18" charset="0"/>
                        </a:rPr>
                        <a:t> K. Pandya, Suresh S. Khandelwal, Rupesh Kumar </a:t>
                      </a:r>
                      <a:r>
                        <a:rPr lang="en-US" sz="1100" dirty="0" err="1">
                          <a:latin typeface="Times New Roman" panose="02020603050405020304" pitchFamily="18" charset="0"/>
                          <a:cs typeface="Times New Roman" panose="02020603050405020304" pitchFamily="18" charset="0"/>
                        </a:rPr>
                        <a:t>Tipu</a:t>
                      </a:r>
                      <a:r>
                        <a:rPr lang="en-US" sz="1100" dirty="0">
                          <a:latin typeface="Times New Roman" panose="02020603050405020304" pitchFamily="18" charset="0"/>
                          <a:cs typeface="Times New Roman" panose="02020603050405020304" pitchFamily="18" charset="0"/>
                        </a:rPr>
                        <a:t>, Kartik S. Pandya</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hlinkClick r:id="rId4"/>
                        </a:rPr>
                        <a:t>https://doi.org/10.1109/ACCESS.2025.3573589</a:t>
                      </a:r>
                      <a:r>
                        <a:rPr lang="en-US" sz="1100" dirty="0">
                          <a:latin typeface="Times New Roman" panose="02020603050405020304" pitchFamily="18" charset="0"/>
                          <a:cs typeface="Times New Roman" panose="02020603050405020304" pitchFamily="18" charset="0"/>
                        </a:rPr>
                        <a:t> &amp;</a:t>
                      </a:r>
                    </a:p>
                    <a:p>
                      <a:r>
                        <a:rPr lang="en-US" sz="1100" dirty="0">
                          <a:latin typeface="Times New Roman" panose="02020603050405020304" pitchFamily="18" charset="0"/>
                          <a:cs typeface="Times New Roman" panose="02020603050405020304" pitchFamily="18" charset="0"/>
                        </a:rPr>
                        <a:t>2025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Decision Tree, Random Forest, GBM, XGBoost, Neural Networks, Transformer-based model; Stacked Ensemble with Logistic Regression meta-learner</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Developed a robust ensemble model achieving 96.7% accuracy; introduced a real-time interactive dashboard for stakeholders.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IN" sz="1100" dirty="0">
                          <a:latin typeface="Times New Roman" panose="02020603050405020304" pitchFamily="18" charset="0"/>
                          <a:cs typeface="Times New Roman" panose="02020603050405020304" pitchFamily="18" charset="0"/>
                        </a:rPr>
                        <a:t>limited dataset size, need for external validation and</a:t>
                      </a:r>
                      <a:r>
                        <a:rPr lang="en-US" sz="1100" dirty="0">
                          <a:latin typeface="Times New Roman" panose="02020603050405020304" pitchFamily="18" charset="0"/>
                          <a:cs typeface="Times New Roman" panose="02020603050405020304" pitchFamily="18" charset="0"/>
                        </a:rPr>
                        <a:t> lack of multivariate modeling in existing threshold based approaches.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36231"/>
                  </a:ext>
                </a:extLst>
              </a:tr>
              <a:tr h="978195">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400">
                          <a:latin typeface="Times New Roman" panose="02020603050405020304" pitchFamily="18" charset="0"/>
                          <a:cs typeface="Times New Roman" panose="02020603050405020304" pitchFamily="18" charset="0"/>
                        </a:rPr>
                        <a:t>4</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latin typeface="Times New Roman" panose="02020603050405020304" pitchFamily="18" charset="0"/>
                          <a:cs typeface="Times New Roman" panose="02020603050405020304" pitchFamily="18" charset="0"/>
                        </a:rPr>
                        <a:t>Gated-LNN: Gated Liquid Neural Networks for Accurate Water Quality Index Prediction and Classification</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it-IT" sz="1100" dirty="0">
                          <a:latin typeface="Times New Roman" panose="02020603050405020304" pitchFamily="18" charset="0"/>
                          <a:cs typeface="Times New Roman" panose="02020603050405020304" pitchFamily="18" charset="0"/>
                        </a:rPr>
                        <a:t>Sreeni Chadalavada et al.</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hlinkClick r:id="rId5"/>
                        </a:rPr>
                        <a:t>https://doi.org/10.1109/ACCESS.2025.3561593</a:t>
                      </a:r>
                      <a:r>
                        <a:rPr lang="en-US" sz="1100" dirty="0">
                          <a:latin typeface="Times New Roman" panose="02020603050405020304" pitchFamily="18" charset="0"/>
                          <a:cs typeface="Times New Roman" panose="02020603050405020304" pitchFamily="18" charset="0"/>
                        </a:rPr>
                        <a:t> &amp; 2025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Gated Liquid Neural Network (Gated-LNN) with sigmoid &amp; tanh gates, Adam optimizer</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Achieved 0.9995 R² in WQI prediction and 99.74% accuracy in classification and demonstrates real time monitoring</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Model is compute-heavy and lacks interpretability</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5402542"/>
                  </a:ext>
                </a:extLst>
              </a:tr>
              <a:tr h="978195">
                <a:tc>
                  <a:txBody>
                    <a:bodyPr/>
                    <a:lstStyle/>
                    <a:p>
                      <a:r>
                        <a:rPr lang="en-US" sz="1400" dirty="0">
                          <a:latin typeface="Times New Roman" panose="02020603050405020304" pitchFamily="18" charset="0"/>
                          <a:cs typeface="Times New Roman" panose="02020603050405020304" pitchFamily="18" charset="0"/>
                        </a:rPr>
                        <a:t>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latin typeface="Times New Roman" panose="02020603050405020304" pitchFamily="18" charset="0"/>
                          <a:cs typeface="Times New Roman" panose="02020603050405020304" pitchFamily="18" charset="0"/>
                        </a:rPr>
                        <a:t>Combining the Improved RGB Water-Filling Algorithm With Penumbra Removal Technique for Shadow Removal From Digitized Images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dirty="0">
                          <a:latin typeface="Times New Roman" panose="02020603050405020304" pitchFamily="18" charset="0"/>
                          <a:cs typeface="Times New Roman" panose="02020603050405020304" pitchFamily="18" charset="0"/>
                        </a:rPr>
                        <a:t>You-Chang Liu &amp; Cheng-Ta </a:t>
                      </a:r>
                      <a:r>
                        <a:rPr lang="fr-FR" sz="1100" dirty="0" err="1">
                          <a:latin typeface="Times New Roman" panose="02020603050405020304" pitchFamily="18" charset="0"/>
                          <a:cs typeface="Times New Roman" panose="02020603050405020304" pitchFamily="18" charset="0"/>
                        </a:rPr>
                        <a:t>Chuang</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100" dirty="0">
                          <a:latin typeface="Times New Roman" panose="02020603050405020304" pitchFamily="18" charset="0"/>
                          <a:cs typeface="Times New Roman" panose="02020603050405020304" pitchFamily="18" charset="0"/>
                          <a:hlinkClick r:id="rId6"/>
                        </a:rPr>
                        <a:t>https://doi.org/10.1109/ACCESS.2025.3555302</a:t>
                      </a:r>
                      <a:r>
                        <a:rPr lang="en-US" sz="1100" dirty="0">
                          <a:latin typeface="Times New Roman" panose="02020603050405020304" pitchFamily="18" charset="0"/>
                          <a:cs typeface="Times New Roman" panose="02020603050405020304" pitchFamily="18" charset="0"/>
                        </a:rPr>
                        <a:t> &amp; 2025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100" dirty="0">
                          <a:latin typeface="Times New Roman" panose="02020603050405020304" pitchFamily="18" charset="0"/>
                          <a:cs typeface="Times New Roman" panose="02020603050405020304" pitchFamily="18" charset="0"/>
                        </a:rPr>
                        <a:t>RGB Water-Filling Algorithm, Penumbra Removal, </a:t>
                      </a:r>
                      <a:r>
                        <a:rPr lang="en-US" sz="1100" dirty="0">
                          <a:latin typeface="Times New Roman" panose="02020603050405020304" pitchFamily="18" charset="0"/>
                          <a:cs typeface="Times New Roman" panose="02020603050405020304" pitchFamily="18" charset="0"/>
                        </a:rPr>
                        <a:t>background reconstruction, and post-processing with gamma correction</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100" dirty="0">
                          <a:latin typeface="Times New Roman" panose="02020603050405020304" pitchFamily="18" charset="0"/>
                          <a:cs typeface="Times New Roman" panose="02020603050405020304" pitchFamily="18" charset="0"/>
                        </a:rPr>
                        <a:t>improve shadow removal efficiency, reducing RMSE and enhancing PSNR and SSIM, </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100" dirty="0">
                          <a:latin typeface="Times New Roman" panose="02020603050405020304" pitchFamily="18" charset="0"/>
                          <a:cs typeface="Times New Roman" panose="02020603050405020304" pitchFamily="18" charset="0"/>
                        </a:rPr>
                        <a:t>effective shadow removal techniques for improving image quality and document readability.</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422386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81754" y="529843"/>
            <a:ext cx="4957446" cy="701040"/>
          </a:xfrm>
          <a:prstGeom prst="rect">
            <a:avLst/>
          </a:prstGeom>
        </p:spPr>
        <p:txBody>
          <a:bodyPr vert="horz" wrap="square" lIns="0" tIns="16510" rIns="0" bIns="0" rtlCol="0">
            <a:spAutoFit/>
          </a:bodyPr>
          <a:lstStyle/>
          <a:p>
            <a:pPr marL="12700">
              <a:lnSpc>
                <a:spcPct val="100000"/>
              </a:lnSpc>
              <a:spcBef>
                <a:spcPts val="130"/>
              </a:spcBef>
            </a:pPr>
            <a:r>
              <a:rPr spc="45" dirty="0"/>
              <a:t>R</a:t>
            </a:r>
            <a:r>
              <a:rPr spc="-10" dirty="0"/>
              <a:t>E</a:t>
            </a:r>
            <a:r>
              <a:rPr spc="20" dirty="0"/>
              <a:t>S</a:t>
            </a:r>
            <a:r>
              <a:rPr spc="-10" dirty="0"/>
              <a:t>E</a:t>
            </a:r>
            <a:r>
              <a:rPr spc="45" dirty="0"/>
              <a:t>ARC</a:t>
            </a:r>
            <a:r>
              <a:rPr spc="20" dirty="0"/>
              <a:t>H</a:t>
            </a:r>
            <a:r>
              <a:rPr spc="-195" dirty="0"/>
              <a:t> </a:t>
            </a:r>
            <a:r>
              <a:rPr spc="-55" dirty="0"/>
              <a:t>G</a:t>
            </a:r>
            <a:r>
              <a:rPr spc="45" dirty="0"/>
              <a:t>A</a:t>
            </a:r>
            <a:r>
              <a:rPr spc="15" dirty="0"/>
              <a:t>PS</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10-11-2025</a:t>
            </a:r>
          </a:p>
        </p:txBody>
      </p:sp>
      <p:sp>
        <p:nvSpPr>
          <p:cNvPr id="5" name="object 5"/>
          <p:cNvSpPr txBox="1"/>
          <p:nvPr/>
        </p:nvSpPr>
        <p:spPr>
          <a:xfrm>
            <a:off x="3881754" y="6451049"/>
            <a:ext cx="1302766"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2" y="6451049"/>
            <a:ext cx="984668"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CB4</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7</a:t>
            </a:fld>
            <a:endParaRPr dirty="0"/>
          </a:p>
        </p:txBody>
      </p:sp>
      <p:sp>
        <p:nvSpPr>
          <p:cNvPr id="3" name="object 3"/>
          <p:cNvSpPr txBox="1"/>
          <p:nvPr/>
        </p:nvSpPr>
        <p:spPr>
          <a:xfrm>
            <a:off x="917575" y="1730872"/>
            <a:ext cx="9979026" cy="3793346"/>
          </a:xfrm>
          <a:prstGeom prst="rect">
            <a:avLst/>
          </a:prstGeom>
        </p:spPr>
        <p:txBody>
          <a:bodyPr vert="horz" wrap="square" lIns="0" tIns="99060" rIns="0" bIns="0" rtlCol="0">
            <a:spAutoFit/>
          </a:bodyPr>
          <a:lstStyle/>
          <a:p>
            <a:pPr marL="457200" indent="-457200" algn="just">
              <a:buClr>
                <a:schemeClr val="tx1"/>
              </a:buCl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Limited generalization of existing models across different regions and water conditions.</a:t>
            </a:r>
          </a:p>
          <a:p>
            <a:pPr marL="457200" indent="-457200" algn="just">
              <a:buClr>
                <a:schemeClr val="tx1"/>
              </a:buCl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Poor handling of irregular or missing water quality data samples.</a:t>
            </a:r>
          </a:p>
          <a:p>
            <a:pPr marL="457200" indent="-457200" algn="just">
              <a:buClr>
                <a:schemeClr val="tx1"/>
              </a:buCl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Inadequate real-time prediction and deployment capabilities.</a:t>
            </a:r>
          </a:p>
          <a:p>
            <a:pPr marL="457200" indent="-457200" algn="just">
              <a:buClr>
                <a:schemeClr val="tx1"/>
              </a:buCl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Lack of integration between deep learning and ensemble boosting methods.</a:t>
            </a:r>
          </a:p>
          <a:p>
            <a:pPr marL="457200" indent="-457200" algn="just">
              <a:buClr>
                <a:schemeClr val="tx1"/>
              </a:buCl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Insufficient interpretability and robustness under noisy environmental conditions.</a:t>
            </a:r>
          </a:p>
          <a:p>
            <a:pPr marL="457200" indent="-457200" algn="just">
              <a:buClr>
                <a:schemeClr val="tx1"/>
              </a:buCl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Absence of scalable meta-stacked architectures(</a:t>
            </a:r>
            <a:r>
              <a:rPr lang="en-US" sz="2400" dirty="0">
                <a:latin typeface="Times New Roman" panose="02020603050405020304" pitchFamily="18" charset="0"/>
                <a:cs typeface="Times New Roman" panose="02020603050405020304" pitchFamily="18" charset="0"/>
              </a:rPr>
              <a:t>like Meta-CatBoost) that can intelligently fuse multiple model predictions to improve reliability and cross-regional adaptability.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72940" y="529843"/>
            <a:ext cx="3594735" cy="701040"/>
          </a:xfrm>
          <a:prstGeom prst="rect">
            <a:avLst/>
          </a:prstGeom>
        </p:spPr>
        <p:txBody>
          <a:bodyPr vert="horz" wrap="square" lIns="0" tIns="16510" rIns="0" bIns="0" rtlCol="0">
            <a:spAutoFit/>
          </a:bodyPr>
          <a:lstStyle/>
          <a:p>
            <a:pPr marL="12700">
              <a:lnSpc>
                <a:spcPct val="100000"/>
              </a:lnSpc>
              <a:spcBef>
                <a:spcPts val="130"/>
              </a:spcBef>
            </a:pPr>
            <a:r>
              <a:rPr spc="20" dirty="0"/>
              <a:t>O</a:t>
            </a:r>
            <a:r>
              <a:rPr spc="65" dirty="0"/>
              <a:t>B</a:t>
            </a:r>
            <a:r>
              <a:rPr spc="45" dirty="0"/>
              <a:t>J</a:t>
            </a:r>
            <a:r>
              <a:rPr spc="-15" dirty="0"/>
              <a:t>E</a:t>
            </a:r>
            <a:r>
              <a:rPr spc="45" dirty="0"/>
              <a:t>C</a:t>
            </a:r>
            <a:r>
              <a:rPr spc="-15" dirty="0"/>
              <a:t>T</a:t>
            </a:r>
            <a:r>
              <a:rPr spc="10" dirty="0"/>
              <a:t>I</a:t>
            </a:r>
            <a:r>
              <a:rPr spc="45" dirty="0"/>
              <a:t>V</a:t>
            </a:r>
            <a:r>
              <a:rPr spc="-15" dirty="0"/>
              <a:t>E</a:t>
            </a:r>
            <a:r>
              <a:rPr spc="15" dirty="0"/>
              <a:t>S</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10-11-2025</a:t>
            </a:r>
          </a:p>
        </p:txBody>
      </p:sp>
      <p:sp>
        <p:nvSpPr>
          <p:cNvPr id="5" name="object 5"/>
          <p:cNvSpPr txBox="1"/>
          <p:nvPr/>
        </p:nvSpPr>
        <p:spPr>
          <a:xfrm>
            <a:off x="4191000" y="6458435"/>
            <a:ext cx="98387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2" y="6451049"/>
            <a:ext cx="983870"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CB4</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8</a:t>
            </a:fld>
            <a:endParaRPr dirty="0"/>
          </a:p>
        </p:txBody>
      </p:sp>
      <p:sp>
        <p:nvSpPr>
          <p:cNvPr id="3" name="object 3"/>
          <p:cNvSpPr txBox="1"/>
          <p:nvPr/>
        </p:nvSpPr>
        <p:spPr>
          <a:xfrm>
            <a:off x="609600" y="1744016"/>
            <a:ext cx="11125201" cy="4162678"/>
          </a:xfrm>
          <a:prstGeom prst="rect">
            <a:avLst/>
          </a:prstGeom>
        </p:spPr>
        <p:txBody>
          <a:bodyPr vert="horz" wrap="square" lIns="0" tIns="99060" rIns="0" bIns="0"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develop a robust deep hybrid ensemble model for accurate real-time Water Quality Index (WQI) prediction.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capture both short- and long-term temporal dependencies and nonlinear feature relationships through the combination of recurrent and attention-based architectures.</a:t>
            </a:r>
            <a:endParaRPr lang="en-US" sz="2400" b="0" i="0" dirty="0">
              <a:solidFill>
                <a:srgbClr val="0D0D0D"/>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achieve high accuracy, low error, and improve strong generalization and robustness in WQI forecasting.</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enhance model adaptability across diverse regions and varying water conditions.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evaluate deep hybrid ensemble model and it establish </a:t>
            </a:r>
            <a:r>
              <a:rPr lang="en-IN" sz="2400" dirty="0">
                <a:latin typeface="Times New Roman" panose="02020603050405020304" pitchFamily="18" charset="0"/>
                <a:cs typeface="Times New Roman" panose="02020603050405020304" pitchFamily="18" charset="0"/>
              </a:rPr>
              <a:t>state-of-the-art accuracy.</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design and implement </a:t>
            </a:r>
            <a:r>
              <a:rPr lang="en-IN" sz="2400" i="1" dirty="0">
                <a:latin typeface="Times New Roman" panose="02020603050405020304" pitchFamily="18" charset="0"/>
                <a:cs typeface="Times New Roman" panose="02020603050405020304" pitchFamily="18" charset="0"/>
              </a:rPr>
              <a:t>AquaNet-X</a:t>
            </a:r>
            <a:r>
              <a:rPr lang="en-IN" sz="2400" dirty="0">
                <a:latin typeface="Times New Roman" panose="02020603050405020304" pitchFamily="18" charset="0"/>
                <a:cs typeface="Times New Roman" panose="02020603050405020304" pitchFamily="18" charset="0"/>
              </a:rPr>
              <a:t>, a meta-stacked ensemble integrating Bi-GRU, Transformer, XGBoost, and LightGBM models for robust Water Quality Index (WQI) prediction.</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38904" y="529843"/>
            <a:ext cx="4672965" cy="701040"/>
          </a:xfrm>
          <a:prstGeom prst="rect">
            <a:avLst/>
          </a:prstGeom>
        </p:spPr>
        <p:txBody>
          <a:bodyPr vert="horz" wrap="square" lIns="0" tIns="16510" rIns="0" bIns="0" rtlCol="0">
            <a:spAutoFit/>
          </a:bodyPr>
          <a:lstStyle/>
          <a:p>
            <a:pPr marL="12700">
              <a:lnSpc>
                <a:spcPct val="100000"/>
              </a:lnSpc>
              <a:spcBef>
                <a:spcPts val="130"/>
              </a:spcBef>
            </a:pPr>
            <a:r>
              <a:rPr spc="10" dirty="0"/>
              <a:t>METHODOLOGY</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10-11-2025</a:t>
            </a:r>
          </a:p>
        </p:txBody>
      </p:sp>
      <p:sp>
        <p:nvSpPr>
          <p:cNvPr id="5" name="object 5"/>
          <p:cNvSpPr txBox="1"/>
          <p:nvPr/>
        </p:nvSpPr>
        <p:spPr>
          <a:xfrm>
            <a:off x="4114800" y="6451049"/>
            <a:ext cx="106972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1" y="6451049"/>
            <a:ext cx="1069719"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CB4</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9</a:t>
            </a:fld>
            <a:endParaRPr dirty="0"/>
          </a:p>
        </p:txBody>
      </p:sp>
      <p:sp>
        <p:nvSpPr>
          <p:cNvPr id="3" name="object 3"/>
          <p:cNvSpPr txBox="1"/>
          <p:nvPr/>
        </p:nvSpPr>
        <p:spPr>
          <a:xfrm>
            <a:off x="180182" y="1146584"/>
            <a:ext cx="11831635" cy="5292346"/>
          </a:xfrm>
          <a:prstGeom prst="rect">
            <a:avLst/>
          </a:prstGeom>
        </p:spPr>
        <p:txBody>
          <a:bodyPr vert="horz" wrap="square" lIns="0" tIns="60960" rIns="0" bIns="0" rtlCol="0">
            <a:spAutoFit/>
          </a:bodyPr>
          <a:lstStyle/>
          <a:p>
            <a:pPr marL="241300" marR="290830" indent="-229235" algn="just">
              <a:lnSpc>
                <a:spcPts val="3000"/>
              </a:lnSpc>
              <a:spcBef>
                <a:spcPts val="480"/>
              </a:spcBef>
              <a:buFont typeface="Arial MT"/>
              <a:buChar char="•"/>
              <a:tabLst>
                <a:tab pos="241935" algn="l"/>
                <a:tab pos="2394585" algn="l"/>
              </a:tabLst>
            </a:pPr>
            <a:r>
              <a:rPr lang="en-IN" sz="2300" b="1" dirty="0">
                <a:latin typeface="Times New Roman" panose="02020603050405020304" pitchFamily="18" charset="0"/>
                <a:cs typeface="Times New Roman" panose="02020603050405020304" pitchFamily="18" charset="0"/>
              </a:rPr>
              <a:t>Data Sources:</a:t>
            </a:r>
            <a:r>
              <a:rPr lang="en-IN" sz="2300"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R</a:t>
            </a:r>
            <a:r>
              <a:rPr lang="en-US" sz="2300" dirty="0">
                <a:effectLst/>
                <a:latin typeface="Times New Roman" panose="02020603050405020304" pitchFamily="18" charset="0"/>
                <a:ea typeface="Times New Roman" panose="02020603050405020304" pitchFamily="18" charset="0"/>
                <a:cs typeface="Times New Roman" panose="02020603050405020304" pitchFamily="18" charset="0"/>
              </a:rPr>
              <a:t>eal-world Indian surface water quality dataset with multivariate parameters such as </a:t>
            </a:r>
            <a:r>
              <a:rPr lang="en-IN" sz="2300" dirty="0">
                <a:latin typeface="Times New Roman" panose="02020603050405020304" pitchFamily="18" charset="0"/>
                <a:cs typeface="Times New Roman" panose="02020603050405020304" pitchFamily="18" charset="0"/>
              </a:rPr>
              <a:t>pH, Dissolved Oxygen (DO), Biochemical Oxygen Demand (BOD), Temperature (TEMP), Faecal Streptococci (FS), Total Coliform (TC), Faecal Coliform (FC), Conductivity (COND), and Nitrate(NO₃).</a:t>
            </a:r>
            <a:endParaRPr lang="en-US" sz="23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41300" marR="290830" indent="-229235" algn="just">
              <a:lnSpc>
                <a:spcPts val="3000"/>
              </a:lnSpc>
              <a:spcBef>
                <a:spcPts val="480"/>
              </a:spcBef>
              <a:buFont typeface="Arial MT"/>
              <a:buChar char="•"/>
              <a:tabLst>
                <a:tab pos="241935" algn="l"/>
                <a:tab pos="2394585" algn="l"/>
              </a:tabLst>
            </a:pPr>
            <a:r>
              <a:rPr lang="en-IN" sz="2300" b="1" dirty="0">
                <a:latin typeface="Times New Roman" panose="02020603050405020304" pitchFamily="18" charset="0"/>
                <a:cs typeface="Times New Roman" panose="02020603050405020304" pitchFamily="18" charset="0"/>
              </a:rPr>
              <a:t>Data Range:</a:t>
            </a:r>
            <a:r>
              <a:rPr lang="en-IN" sz="2300" dirty="0">
                <a:latin typeface="Times New Roman" panose="02020603050405020304" pitchFamily="18" charset="0"/>
                <a:cs typeface="Times New Roman" panose="02020603050405020304" pitchFamily="18" charset="0"/>
              </a:rPr>
              <a:t> 2012–2025.</a:t>
            </a:r>
            <a:endParaRPr lang="en-IN" sz="2300" dirty="0">
              <a:solidFill>
                <a:srgbClr val="0D0D0D"/>
              </a:solidFill>
              <a:latin typeface="Times New Roman" panose="02020603050405020304" pitchFamily="18" charset="0"/>
              <a:cs typeface="Times New Roman" panose="02020603050405020304" pitchFamily="18" charset="0"/>
            </a:endParaRPr>
          </a:p>
          <a:p>
            <a:pPr marL="241300" marR="290830" indent="-229235" algn="just">
              <a:lnSpc>
                <a:spcPts val="3000"/>
              </a:lnSpc>
              <a:spcBef>
                <a:spcPts val="480"/>
              </a:spcBef>
              <a:buFont typeface="Arial MT"/>
              <a:buChar char="•"/>
              <a:tabLst>
                <a:tab pos="241935" algn="l"/>
                <a:tab pos="2394585" algn="l"/>
              </a:tabLst>
            </a:pPr>
            <a:r>
              <a:rPr lang="en-US" sz="2300" b="1" dirty="0">
                <a:latin typeface="Times New Roman" panose="02020603050405020304" pitchFamily="18" charset="0"/>
                <a:cs typeface="Times New Roman" panose="02020603050405020304" pitchFamily="18" charset="0"/>
              </a:rPr>
              <a:t>Preprocessing: </a:t>
            </a:r>
            <a:r>
              <a:rPr lang="en-US" sz="2300" dirty="0">
                <a:latin typeface="Times New Roman" panose="02020603050405020304" pitchFamily="18" charset="0"/>
                <a:cs typeface="Times New Roman" panose="02020603050405020304" pitchFamily="18" charset="0"/>
              </a:rPr>
              <a:t>clean column names, remove duplicates and fill missing numeric values with sensible imputations., normalization</a:t>
            </a:r>
            <a:r>
              <a:rPr lang="en-US" sz="2300" dirty="0">
                <a:solidFill>
                  <a:srgbClr val="0D0D0D"/>
                </a:solidFill>
                <a:latin typeface="Times New Roman" panose="02020603050405020304" pitchFamily="18" charset="0"/>
                <a:cs typeface="Times New Roman" panose="02020603050405020304" pitchFamily="18" charset="0"/>
              </a:rPr>
              <a:t>/scale features (StandardScaler).</a:t>
            </a:r>
            <a:endParaRPr lang="en-US" sz="2300" b="0" i="0" dirty="0">
              <a:solidFill>
                <a:srgbClr val="0D0D0D"/>
              </a:solidFill>
              <a:effectLst/>
              <a:latin typeface="Times New Roman" panose="02020603050405020304" pitchFamily="18" charset="0"/>
              <a:cs typeface="Times New Roman" panose="02020603050405020304" pitchFamily="18" charset="0"/>
            </a:endParaRPr>
          </a:p>
          <a:p>
            <a:pPr marL="241300" marR="290830" indent="-229235" algn="just">
              <a:lnSpc>
                <a:spcPts val="3000"/>
              </a:lnSpc>
              <a:spcBef>
                <a:spcPts val="480"/>
              </a:spcBef>
              <a:buFont typeface="Arial MT"/>
              <a:buChar char="•"/>
              <a:tabLst>
                <a:tab pos="241935" algn="l"/>
                <a:tab pos="2394585" algn="l"/>
              </a:tabLst>
            </a:pPr>
            <a:r>
              <a:rPr lang="en-US" sz="2300" b="1" dirty="0">
                <a:latin typeface="Times New Roman" panose="02020603050405020304" pitchFamily="18" charset="0"/>
                <a:cs typeface="Times New Roman" panose="02020603050405020304" pitchFamily="18" charset="0"/>
              </a:rPr>
              <a:t>Modeling:</a:t>
            </a:r>
            <a:r>
              <a:rPr lang="en-US" sz="2300" dirty="0">
                <a:latin typeface="Times New Roman" panose="02020603050405020304" pitchFamily="18" charset="0"/>
                <a:cs typeface="Times New Roman" panose="02020603050405020304" pitchFamily="18" charset="0"/>
              </a:rPr>
              <a:t> Meta-CatBoost Layer stacks Bi-GRU, Transformer, XGBoost, LightGBM. Bi-GRU learns short-to-mid-term temporal dependencies, Transformer </a:t>
            </a:r>
            <a:r>
              <a:rPr lang="en-IN" sz="2300" dirty="0">
                <a:latin typeface="Times New Roman" panose="02020603050405020304" pitchFamily="18" charset="0"/>
                <a:cs typeface="Times New Roman" panose="02020603050405020304" pitchFamily="18" charset="0"/>
              </a:rPr>
              <a:t>captures long-range feature relationships, </a:t>
            </a:r>
            <a:r>
              <a:rPr lang="en-US" sz="2300" dirty="0">
                <a:latin typeface="Times New Roman" panose="02020603050405020304" pitchFamily="18" charset="0"/>
                <a:cs typeface="Times New Roman" panose="02020603050405020304" pitchFamily="18" charset="0"/>
              </a:rPr>
              <a:t>XGBoost &amp; LightGBM</a:t>
            </a:r>
            <a:r>
              <a:rPr lang="en-US" sz="2300" b="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handles tabular relationships and nonlinear decision boundaries, providing strong feature-level generalization and Meta-CatBoost layer serves as a higher-level learner, combining outputs from all base models.</a:t>
            </a:r>
          </a:p>
          <a:p>
            <a:pPr marL="241300" marR="290830" indent="-229235" algn="just">
              <a:lnSpc>
                <a:spcPts val="3000"/>
              </a:lnSpc>
              <a:spcBef>
                <a:spcPts val="480"/>
              </a:spcBef>
              <a:buFont typeface="Arial MT"/>
              <a:buChar char="•"/>
              <a:tabLst>
                <a:tab pos="241935" algn="l"/>
                <a:tab pos="2394585" algn="l"/>
              </a:tabLst>
            </a:pPr>
            <a:r>
              <a:rPr lang="en-US" sz="2300" b="1" dirty="0">
                <a:latin typeface="Times New Roman" panose="02020603050405020304" pitchFamily="18" charset="0"/>
                <a:cs typeface="Times New Roman" panose="02020603050405020304" pitchFamily="18" charset="0"/>
              </a:rPr>
              <a:t>Evaluation : </a:t>
            </a:r>
            <a:r>
              <a:rPr lang="en-US" sz="2300" dirty="0">
                <a:latin typeface="Times New Roman" panose="02020603050405020304" pitchFamily="18" charset="0"/>
                <a:cs typeface="Times New Roman" panose="02020603050405020304" pitchFamily="18" charset="0"/>
              </a:rPr>
              <a:t>Evaluate with R², RMSE, MAE, prediction-interval checks</a:t>
            </a:r>
            <a:r>
              <a:rPr lang="en-US" sz="2300" b="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and Confusion Matrix.</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03350" y="566674"/>
            <a:ext cx="9726930" cy="632460"/>
          </a:xfrm>
          <a:prstGeom prst="rect">
            <a:avLst/>
          </a:prstGeom>
        </p:spPr>
        <p:txBody>
          <a:bodyPr vert="horz" wrap="square" lIns="0" tIns="16510" rIns="0" bIns="0" rtlCol="0">
            <a:spAutoFit/>
          </a:bodyPr>
          <a:lstStyle/>
          <a:p>
            <a:pPr marL="12700" algn="ctr">
              <a:lnSpc>
                <a:spcPct val="100000"/>
              </a:lnSpc>
              <a:spcBef>
                <a:spcPts val="130"/>
              </a:spcBef>
            </a:pPr>
            <a:r>
              <a:rPr sz="3950" spc="20" dirty="0"/>
              <a:t>FLOW</a:t>
            </a:r>
            <a:r>
              <a:rPr sz="3950" spc="-25" dirty="0"/>
              <a:t> </a:t>
            </a:r>
            <a:r>
              <a:rPr sz="3950" spc="5" dirty="0"/>
              <a:t>DIAGRAM</a:t>
            </a:r>
            <a:endParaRPr sz="3950" dirty="0"/>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10-11-2025</a:t>
            </a:r>
          </a:p>
        </p:txBody>
      </p:sp>
      <p:sp>
        <p:nvSpPr>
          <p:cNvPr id="5" name="object 5"/>
          <p:cNvSpPr txBox="1"/>
          <p:nvPr/>
        </p:nvSpPr>
        <p:spPr>
          <a:xfrm>
            <a:off x="4426329" y="6451049"/>
            <a:ext cx="936815"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US"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1" y="6451049"/>
            <a:ext cx="1037655"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US" sz="1200" spc="5" dirty="0">
                <a:solidFill>
                  <a:srgbClr val="888888"/>
                </a:solidFill>
                <a:latin typeface="Times New Roman"/>
                <a:cs typeface="Times New Roman"/>
              </a:rPr>
              <a:t>CB4</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10</a:t>
            </a:fld>
            <a:endParaRPr dirty="0"/>
          </a:p>
        </p:txBody>
      </p:sp>
      <p:sp>
        <p:nvSpPr>
          <p:cNvPr id="9" name="TextBox 8">
            <a:extLst>
              <a:ext uri="{FF2B5EF4-FFF2-40B4-BE49-F238E27FC236}">
                <a16:creationId xmlns:a16="http://schemas.microsoft.com/office/drawing/2014/main" id="{701B5D85-DC83-0192-02D3-132482281B8F}"/>
              </a:ext>
            </a:extLst>
          </p:cNvPr>
          <p:cNvSpPr txBox="1"/>
          <p:nvPr/>
        </p:nvSpPr>
        <p:spPr>
          <a:xfrm>
            <a:off x="2828296" y="5826219"/>
            <a:ext cx="5328070" cy="871008"/>
          </a:xfrm>
          <a:prstGeom prst="rect">
            <a:avLst/>
          </a:prstGeom>
          <a:noFill/>
        </p:spPr>
        <p:txBody>
          <a:bodyPr wrap="square" rtlCol="0">
            <a:spAutoFit/>
          </a:bodyPr>
          <a:lstStyle/>
          <a:p>
            <a:pPr marL="182880" marR="624840" indent="182880" algn="ctr">
              <a:lnSpc>
                <a:spcPct val="115000"/>
              </a:lnSpc>
              <a:spcAft>
                <a:spcPts val="600"/>
              </a:spcAft>
              <a:tabLst>
                <a:tab pos="182880" algn="l"/>
              </a:tabLst>
            </a:pPr>
            <a:r>
              <a:rPr lang="en-IN" sz="2400" b="1" spc="-5" dirty="0">
                <a:effectLst/>
                <a:latin typeface="Times New Roman" panose="02020603050405020304" pitchFamily="18" charset="0"/>
                <a:ea typeface="SimSun" panose="02010600030101010101" pitchFamily="2" charset="-122"/>
              </a:rPr>
              <a:t>            Fig.1: Working Process</a:t>
            </a:r>
          </a:p>
          <a:p>
            <a:endParaRPr lang="en-IN" dirty="0"/>
          </a:p>
        </p:txBody>
      </p:sp>
      <p:pic>
        <p:nvPicPr>
          <p:cNvPr id="11" name="Picture 10">
            <a:extLst>
              <a:ext uri="{FF2B5EF4-FFF2-40B4-BE49-F238E27FC236}">
                <a16:creationId xmlns:a16="http://schemas.microsoft.com/office/drawing/2014/main" id="{F3B0C8EA-1F29-44F7-83F7-616212C1DB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6918" y="1118865"/>
            <a:ext cx="3858163" cy="475757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15054" y="529843"/>
            <a:ext cx="5318760" cy="701040"/>
          </a:xfrm>
          <a:prstGeom prst="rect">
            <a:avLst/>
          </a:prstGeom>
        </p:spPr>
        <p:txBody>
          <a:bodyPr vert="horz" wrap="square" lIns="0" tIns="16510" rIns="0" bIns="0" rtlCol="0">
            <a:spAutoFit/>
          </a:bodyPr>
          <a:lstStyle/>
          <a:p>
            <a:pPr marL="12700">
              <a:lnSpc>
                <a:spcPct val="100000"/>
              </a:lnSpc>
              <a:spcBef>
                <a:spcPts val="130"/>
              </a:spcBef>
            </a:pPr>
            <a:r>
              <a:rPr spc="-30" dirty="0"/>
              <a:t>IMPLEMENTATION</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a:t>
            </a:r>
            <a:r>
              <a:rPr spc="5" dirty="0"/>
              <a:t>-202</a:t>
            </a:r>
            <a:r>
              <a:rPr lang="en-IN" spc="5" dirty="0"/>
              <a:t>5</a:t>
            </a:r>
            <a:endParaRPr spc="5" dirty="0"/>
          </a:p>
        </p:txBody>
      </p:sp>
      <p:sp>
        <p:nvSpPr>
          <p:cNvPr id="5" name="object 5"/>
          <p:cNvSpPr txBox="1"/>
          <p:nvPr/>
        </p:nvSpPr>
        <p:spPr>
          <a:xfrm>
            <a:off x="4267200" y="6451049"/>
            <a:ext cx="91732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1" y="6451049"/>
            <a:ext cx="1037655"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CB4</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11</a:t>
            </a:fld>
            <a:endParaRPr dirty="0"/>
          </a:p>
        </p:txBody>
      </p:sp>
      <p:sp>
        <p:nvSpPr>
          <p:cNvPr id="3" name="object 3"/>
          <p:cNvSpPr txBox="1"/>
          <p:nvPr/>
        </p:nvSpPr>
        <p:spPr>
          <a:xfrm>
            <a:off x="399285" y="1095955"/>
            <a:ext cx="5875149" cy="5324535"/>
          </a:xfrm>
          <a:prstGeom prst="rect">
            <a:avLst/>
          </a:prstGeom>
        </p:spPr>
        <p:txBody>
          <a:bodyPr vert="horz" wrap="square" lIns="0" tIns="60960" rIns="0" bIns="0" rtlCol="0">
            <a:spAutoFit/>
          </a:bodyPr>
          <a:lstStyle/>
          <a:p>
            <a:r>
              <a:rPr lang="en-IN" b="1" dirty="0">
                <a:latin typeface="Times New Roman" panose="02020603050405020304" pitchFamily="18" charset="0"/>
                <a:cs typeface="Times New Roman" panose="02020603050405020304" pitchFamily="18" charset="0"/>
              </a:rPr>
              <a:t>Install Packages and Import models:</a:t>
            </a:r>
            <a:endParaRPr lang="en-IN" b="1" dirty="0">
              <a:effectLst/>
              <a:latin typeface="Times New Roman" panose="02020603050405020304" pitchFamily="18" charset="0"/>
              <a:cs typeface="Times New Roman" panose="02020603050405020304" pitchFamily="18" charset="0"/>
            </a:endParaRPr>
          </a:p>
          <a:p>
            <a:r>
              <a:rPr lang="en-US" b="0" dirty="0">
                <a:solidFill>
                  <a:srgbClr val="82C6FF"/>
                </a:solidFill>
                <a:effectLst/>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pip install </a:t>
            </a:r>
            <a:r>
              <a:rPr lang="en-US" b="0" dirty="0" err="1">
                <a:solidFill>
                  <a:srgbClr val="D4D4D4"/>
                </a:solidFill>
                <a:effectLst/>
                <a:latin typeface="Times New Roman" panose="02020603050405020304" pitchFamily="18" charset="0"/>
                <a:cs typeface="Times New Roman" panose="02020603050405020304" pitchFamily="18" charset="0"/>
              </a:rPr>
              <a:t>xgboost</a:t>
            </a:r>
            <a:r>
              <a:rPr lang="en-US" b="0" dirty="0">
                <a:solidFill>
                  <a:srgbClr val="D4D4D4"/>
                </a:solidFill>
                <a:effectLst/>
                <a:latin typeface="Times New Roman" panose="02020603050405020304" pitchFamily="18" charset="0"/>
                <a:cs typeface="Times New Roman" panose="02020603050405020304" pitchFamily="18" charset="0"/>
              </a:rPr>
              <a:t> </a:t>
            </a:r>
            <a:r>
              <a:rPr lang="en-US" b="0" dirty="0" err="1">
                <a:solidFill>
                  <a:srgbClr val="D4D4D4"/>
                </a:solidFill>
                <a:effectLst/>
                <a:latin typeface="Times New Roman" panose="02020603050405020304" pitchFamily="18" charset="0"/>
                <a:cs typeface="Times New Roman" panose="02020603050405020304" pitchFamily="18" charset="0"/>
              </a:rPr>
              <a:t>lightgbm</a:t>
            </a:r>
            <a:r>
              <a:rPr lang="en-US" b="0" dirty="0">
                <a:solidFill>
                  <a:srgbClr val="D4D4D4"/>
                </a:solidFill>
                <a:effectLst/>
                <a:latin typeface="Times New Roman" panose="02020603050405020304" pitchFamily="18" charset="0"/>
                <a:cs typeface="Times New Roman" panose="02020603050405020304" pitchFamily="18" charset="0"/>
              </a:rPr>
              <a:t> </a:t>
            </a:r>
            <a:r>
              <a:rPr lang="en-US" b="0" dirty="0" err="1">
                <a:solidFill>
                  <a:srgbClr val="D4D4D4"/>
                </a:solidFill>
                <a:effectLst/>
                <a:latin typeface="Times New Roman" panose="02020603050405020304" pitchFamily="18" charset="0"/>
                <a:cs typeface="Times New Roman" panose="02020603050405020304" pitchFamily="18" charset="0"/>
              </a:rPr>
              <a:t>catboost</a:t>
            </a:r>
            <a:r>
              <a:rPr lang="en-US" b="0" dirty="0">
                <a:solidFill>
                  <a:srgbClr val="D4D4D4"/>
                </a:solidFill>
                <a:effectLst/>
                <a:latin typeface="Times New Roman" panose="02020603050405020304" pitchFamily="18" charset="0"/>
                <a:cs typeface="Times New Roman" panose="02020603050405020304" pitchFamily="18" charset="0"/>
              </a:rPr>
              <a:t> --quiet</a:t>
            </a:r>
          </a:p>
          <a:p>
            <a:r>
              <a:rPr lang="en-US" b="0" dirty="0">
                <a:solidFill>
                  <a:srgbClr val="82C6FF"/>
                </a:solidFill>
                <a:effectLst/>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pip install </a:t>
            </a:r>
            <a:r>
              <a:rPr lang="en-US" b="0" dirty="0">
                <a:solidFill>
                  <a:srgbClr val="CE9178"/>
                </a:solidFill>
                <a:effectLst/>
                <a:latin typeface="Times New Roman" panose="02020603050405020304" pitchFamily="18" charset="0"/>
                <a:cs typeface="Times New Roman" panose="02020603050405020304" pitchFamily="18" charset="0"/>
              </a:rPr>
              <a:t>"scikit-learn&lt;1.7,&gt;=1.2"</a:t>
            </a:r>
            <a:endParaRPr lang="en-US" b="0" dirty="0">
              <a:solidFill>
                <a:srgbClr val="D4D4D4"/>
              </a:solidFill>
              <a:effectLst/>
              <a:latin typeface="Times New Roman" panose="02020603050405020304" pitchFamily="18" charset="0"/>
              <a:cs typeface="Times New Roman" panose="02020603050405020304" pitchFamily="18" charset="0"/>
            </a:endParaRPr>
          </a:p>
          <a:p>
            <a:r>
              <a:rPr lang="en-IN" b="0" dirty="0">
                <a:solidFill>
                  <a:srgbClr val="82C6FF"/>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pip install </a:t>
            </a:r>
            <a:r>
              <a:rPr lang="en-IN" b="0" dirty="0" err="1">
                <a:solidFill>
                  <a:srgbClr val="D4D4D4"/>
                </a:solidFill>
                <a:effectLst/>
                <a:latin typeface="Times New Roman" panose="02020603050405020304" pitchFamily="18" charset="0"/>
                <a:cs typeface="Times New Roman" panose="02020603050405020304" pitchFamily="18" charset="0"/>
              </a:rPr>
              <a:t>tensorflow</a:t>
            </a:r>
            <a:r>
              <a:rPr lang="en-IN" b="0" dirty="0">
                <a:solidFill>
                  <a:srgbClr val="D4D4D4"/>
                </a:solidFill>
                <a:effectLst/>
                <a:latin typeface="Times New Roman" panose="02020603050405020304" pitchFamily="18" charset="0"/>
                <a:cs typeface="Times New Roman" panose="02020603050405020304" pitchFamily="18" charset="0"/>
              </a:rPr>
              <a:t> --quiet</a:t>
            </a:r>
            <a:endParaRPr lang="en-US" b="1" dirty="0">
              <a:latin typeface="Times New Roman" panose="02020603050405020304" pitchFamily="18" charset="0"/>
              <a:cs typeface="Times New Roman" panose="02020603050405020304" pitchFamily="18" charset="0"/>
            </a:endParaRPr>
          </a:p>
          <a:p>
            <a:r>
              <a:rPr lang="en-IN" b="0" dirty="0">
                <a:solidFill>
                  <a:srgbClr val="C99CC6"/>
                </a:solidFill>
                <a:effectLst/>
                <a:latin typeface="Times New Roman" panose="02020603050405020304" pitchFamily="18" charset="0"/>
                <a:cs typeface="Times New Roman" panose="02020603050405020304" pitchFamily="18" charset="0"/>
              </a:rPr>
              <a:t>import</a:t>
            </a:r>
            <a:r>
              <a:rPr lang="en-IN" b="0" dirty="0">
                <a:solidFill>
                  <a:srgbClr val="D4D4D4"/>
                </a:solidFill>
                <a:effectLst/>
                <a:latin typeface="Times New Roman" panose="02020603050405020304" pitchFamily="18" charset="0"/>
                <a:cs typeface="Times New Roman" panose="02020603050405020304" pitchFamily="18" charset="0"/>
              </a:rPr>
              <a:t> pandas </a:t>
            </a:r>
            <a:r>
              <a:rPr lang="en-IN" b="0" dirty="0">
                <a:solidFill>
                  <a:srgbClr val="C99CC6"/>
                </a:solidFill>
                <a:effectLst/>
                <a:latin typeface="Times New Roman" panose="02020603050405020304" pitchFamily="18" charset="0"/>
                <a:cs typeface="Times New Roman" panose="02020603050405020304" pitchFamily="18" charset="0"/>
              </a:rPr>
              <a:t>as</a:t>
            </a:r>
            <a:r>
              <a:rPr lang="en-IN" b="0" dirty="0">
                <a:solidFill>
                  <a:srgbClr val="D4D4D4"/>
                </a:solidFill>
                <a:effectLst/>
                <a:latin typeface="Times New Roman" panose="02020603050405020304" pitchFamily="18" charset="0"/>
                <a:cs typeface="Times New Roman" panose="02020603050405020304" pitchFamily="18" charset="0"/>
              </a:rPr>
              <a:t> pd  </a:t>
            </a:r>
            <a:r>
              <a:rPr lang="en-IN" b="0" dirty="0">
                <a:solidFill>
                  <a:srgbClr val="82B76C"/>
                </a:solidFill>
                <a:effectLst/>
                <a:latin typeface="Times New Roman" panose="02020603050405020304" pitchFamily="18" charset="0"/>
                <a:cs typeface="Times New Roman" panose="02020603050405020304" pitchFamily="18" charset="0"/>
              </a:rPr>
              <a:t># Data Handling</a:t>
            </a:r>
            <a:endParaRPr lang="en-IN" b="0" dirty="0">
              <a:solidFill>
                <a:srgbClr val="D4D4D4"/>
              </a:solidFill>
              <a:effectLst/>
              <a:latin typeface="Times New Roman" panose="02020603050405020304" pitchFamily="18" charset="0"/>
              <a:cs typeface="Times New Roman" panose="02020603050405020304" pitchFamily="18" charset="0"/>
            </a:endParaRPr>
          </a:p>
          <a:p>
            <a:r>
              <a:rPr lang="en-IN" b="0" dirty="0">
                <a:solidFill>
                  <a:srgbClr val="C99CC6"/>
                </a:solidFill>
                <a:effectLst/>
                <a:latin typeface="Times New Roman" panose="02020603050405020304" pitchFamily="18" charset="0"/>
                <a:cs typeface="Times New Roman" panose="02020603050405020304" pitchFamily="18" charset="0"/>
              </a:rPr>
              <a:t>import</a:t>
            </a:r>
            <a:r>
              <a:rPr lang="en-IN" b="0" dirty="0">
                <a:solidFill>
                  <a:srgbClr val="D4D4D4"/>
                </a:solidFill>
                <a:effectLst/>
                <a:latin typeface="Times New Roman" panose="02020603050405020304" pitchFamily="18" charset="0"/>
                <a:cs typeface="Times New Roman" panose="02020603050405020304" pitchFamily="18" charset="0"/>
              </a:rPr>
              <a:t> numpy </a:t>
            </a:r>
            <a:r>
              <a:rPr lang="en-IN" b="0" dirty="0">
                <a:solidFill>
                  <a:srgbClr val="C99CC6"/>
                </a:solidFill>
                <a:effectLst/>
                <a:latin typeface="Times New Roman" panose="02020603050405020304" pitchFamily="18" charset="0"/>
                <a:cs typeface="Times New Roman" panose="02020603050405020304" pitchFamily="18" charset="0"/>
              </a:rPr>
              <a:t>as</a:t>
            </a:r>
            <a:r>
              <a:rPr lang="en-IN" b="0" dirty="0">
                <a:solidFill>
                  <a:srgbClr val="D4D4D4"/>
                </a:solidFill>
                <a:effectLst/>
                <a:latin typeface="Times New Roman" panose="02020603050405020304" pitchFamily="18" charset="0"/>
                <a:cs typeface="Times New Roman" panose="02020603050405020304" pitchFamily="18" charset="0"/>
              </a:rPr>
              <a:t> np</a:t>
            </a:r>
            <a:br>
              <a:rPr lang="en-IN" b="0" dirty="0">
                <a:solidFill>
                  <a:srgbClr val="D4D4D4"/>
                </a:solidFill>
                <a:effectLst/>
                <a:latin typeface="Times New Roman" panose="02020603050405020304" pitchFamily="18" charset="0"/>
                <a:cs typeface="Times New Roman" panose="02020603050405020304" pitchFamily="18" charset="0"/>
              </a:rPr>
            </a:br>
            <a:r>
              <a:rPr lang="en-IN" b="0" dirty="0">
                <a:solidFill>
                  <a:srgbClr val="C99CC6"/>
                </a:solidFill>
                <a:effectLst/>
                <a:latin typeface="Times New Roman" panose="02020603050405020304" pitchFamily="18" charset="0"/>
                <a:cs typeface="Times New Roman" panose="02020603050405020304" pitchFamily="18" charset="0"/>
              </a:rPr>
              <a:t>import</a:t>
            </a:r>
            <a:r>
              <a:rPr lang="en-IN" b="0" dirty="0">
                <a:solidFill>
                  <a:srgbClr val="D4D4D4"/>
                </a:solidFill>
                <a:effectLst/>
                <a:latin typeface="Times New Roman" panose="02020603050405020304" pitchFamily="18" charset="0"/>
                <a:cs typeface="Times New Roman" panose="02020603050405020304" pitchFamily="18" charset="0"/>
              </a:rPr>
              <a:t> matplotlib.pyplot </a:t>
            </a:r>
            <a:r>
              <a:rPr lang="en-IN" b="0" dirty="0">
                <a:solidFill>
                  <a:srgbClr val="C99CC6"/>
                </a:solidFill>
                <a:effectLst/>
                <a:latin typeface="Times New Roman" panose="02020603050405020304" pitchFamily="18" charset="0"/>
                <a:cs typeface="Times New Roman" panose="02020603050405020304" pitchFamily="18" charset="0"/>
              </a:rPr>
              <a:t>as</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plt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a:solidFill>
                  <a:srgbClr val="82B76C"/>
                </a:solidFill>
                <a:effectLst/>
                <a:latin typeface="Times New Roman" panose="02020603050405020304" pitchFamily="18" charset="0"/>
                <a:cs typeface="Times New Roman" panose="02020603050405020304" pitchFamily="18" charset="0"/>
              </a:rPr>
              <a:t># Visualization</a:t>
            </a:r>
            <a:endParaRPr lang="en-IN" b="0" dirty="0">
              <a:solidFill>
                <a:srgbClr val="D4D4D4"/>
              </a:solidFill>
              <a:effectLst/>
              <a:latin typeface="Times New Roman" panose="02020603050405020304" pitchFamily="18" charset="0"/>
              <a:cs typeface="Times New Roman" panose="02020603050405020304" pitchFamily="18" charset="0"/>
            </a:endParaRPr>
          </a:p>
          <a:p>
            <a:r>
              <a:rPr lang="en-IN" b="0" dirty="0">
                <a:solidFill>
                  <a:srgbClr val="C99CC6"/>
                </a:solidFill>
                <a:effectLst/>
                <a:latin typeface="Times New Roman" panose="02020603050405020304" pitchFamily="18" charset="0"/>
                <a:cs typeface="Times New Roman" panose="02020603050405020304" pitchFamily="18" charset="0"/>
              </a:rPr>
              <a:t>import</a:t>
            </a:r>
            <a:r>
              <a:rPr lang="en-IN" b="0" dirty="0">
                <a:solidFill>
                  <a:srgbClr val="D4D4D4"/>
                </a:solidFill>
                <a:effectLst/>
                <a:latin typeface="Times New Roman" panose="02020603050405020304" pitchFamily="18" charset="0"/>
                <a:cs typeface="Times New Roman" panose="02020603050405020304" pitchFamily="18" charset="0"/>
              </a:rPr>
              <a:t> seaborn </a:t>
            </a:r>
            <a:r>
              <a:rPr lang="en-IN" b="0" dirty="0">
                <a:solidFill>
                  <a:srgbClr val="C99CC6"/>
                </a:solidFill>
                <a:effectLst/>
                <a:latin typeface="Times New Roman" panose="02020603050405020304" pitchFamily="18" charset="0"/>
                <a:cs typeface="Times New Roman" panose="02020603050405020304" pitchFamily="18" charset="0"/>
              </a:rPr>
              <a:t>as</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sns</a:t>
            </a:r>
            <a:br>
              <a:rPr lang="en-IN" b="0" dirty="0">
                <a:solidFill>
                  <a:srgbClr val="D4D4D4"/>
                </a:solidFill>
                <a:effectLst/>
                <a:latin typeface="Times New Roman" panose="02020603050405020304" pitchFamily="18" charset="0"/>
                <a:cs typeface="Times New Roman" panose="02020603050405020304" pitchFamily="18" charset="0"/>
              </a:rPr>
            </a:br>
            <a:r>
              <a:rPr lang="en-IN" b="0" dirty="0">
                <a:solidFill>
                  <a:srgbClr val="C99CC6"/>
                </a:solidFill>
                <a:effectLst/>
                <a:latin typeface="Times New Roman" panose="02020603050405020304" pitchFamily="18" charset="0"/>
                <a:cs typeface="Times New Roman" panose="02020603050405020304" pitchFamily="18" charset="0"/>
              </a:rPr>
              <a:t>from</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sklearn.model_selection</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a:solidFill>
                  <a:srgbClr val="C99CC6"/>
                </a:solidFill>
                <a:effectLst/>
                <a:latin typeface="Times New Roman" panose="02020603050405020304" pitchFamily="18" charset="0"/>
                <a:cs typeface="Times New Roman" panose="02020603050405020304" pitchFamily="18" charset="0"/>
              </a:rPr>
              <a:t>import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train_test_split</a:t>
            </a:r>
            <a:endParaRPr lang="en-IN" b="0" dirty="0">
              <a:solidFill>
                <a:srgbClr val="D4D4D4"/>
              </a:solidFill>
              <a:effectLst/>
              <a:latin typeface="Times New Roman" panose="02020603050405020304" pitchFamily="18" charset="0"/>
              <a:cs typeface="Times New Roman" panose="02020603050405020304" pitchFamily="18" charset="0"/>
            </a:endParaRPr>
          </a:p>
          <a:p>
            <a:r>
              <a:rPr lang="en-IN" b="0" dirty="0">
                <a:solidFill>
                  <a:srgbClr val="C99CC6"/>
                </a:solidFill>
                <a:effectLst/>
                <a:latin typeface="Times New Roman" panose="02020603050405020304" pitchFamily="18" charset="0"/>
                <a:cs typeface="Times New Roman" panose="02020603050405020304" pitchFamily="18" charset="0"/>
              </a:rPr>
              <a:t>from</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sklearn.preprocessing</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a:solidFill>
                  <a:srgbClr val="C99CC6"/>
                </a:solidFill>
                <a:effectLst/>
                <a:latin typeface="Times New Roman" panose="02020603050405020304" pitchFamily="18" charset="0"/>
                <a:cs typeface="Times New Roman" panose="02020603050405020304" pitchFamily="18" charset="0"/>
              </a:rPr>
              <a:t>import</a:t>
            </a:r>
            <a:r>
              <a:rPr lang="en-IN" b="0" dirty="0">
                <a:solidFill>
                  <a:srgbClr val="D4D4D4"/>
                </a:solidFill>
                <a:effectLst/>
                <a:latin typeface="Times New Roman" panose="02020603050405020304" pitchFamily="18" charset="0"/>
                <a:cs typeface="Times New Roman" panose="02020603050405020304" pitchFamily="18" charset="0"/>
              </a:rPr>
              <a:t> StandardScaler</a:t>
            </a:r>
          </a:p>
          <a:p>
            <a:r>
              <a:rPr lang="en-IN" b="0" dirty="0">
                <a:solidFill>
                  <a:srgbClr val="C99CC6"/>
                </a:solidFill>
                <a:effectLst/>
                <a:latin typeface="Times New Roman" panose="02020603050405020304" pitchFamily="18" charset="0"/>
                <a:cs typeface="Times New Roman" panose="02020603050405020304" pitchFamily="18" charset="0"/>
              </a:rPr>
              <a:t>from</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sklearn.metrics</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a:solidFill>
                  <a:srgbClr val="C99CC6"/>
                </a:solidFill>
                <a:effectLst/>
                <a:latin typeface="Times New Roman" panose="02020603050405020304" pitchFamily="18" charset="0"/>
                <a:cs typeface="Times New Roman" panose="02020603050405020304" pitchFamily="18" charset="0"/>
              </a:rPr>
              <a:t>import</a:t>
            </a:r>
            <a:r>
              <a:rPr lang="en-IN" b="0" dirty="0">
                <a:solidFill>
                  <a:srgbClr val="D4D4D4"/>
                </a:solidFill>
                <a:effectLst/>
                <a:latin typeface="Times New Roman" panose="02020603050405020304" pitchFamily="18" charset="0"/>
                <a:cs typeface="Times New Roman" panose="02020603050405020304" pitchFamily="18" charset="0"/>
              </a:rPr>
              <a:t> r2_score</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mean_squared_error</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mean_absolute_error</a:t>
            </a:r>
            <a:br>
              <a:rPr lang="en-IN" b="0" dirty="0">
                <a:solidFill>
                  <a:srgbClr val="D4D4D4"/>
                </a:solidFill>
                <a:effectLst/>
                <a:latin typeface="Times New Roman" panose="02020603050405020304" pitchFamily="18" charset="0"/>
                <a:cs typeface="Times New Roman" panose="02020603050405020304" pitchFamily="18" charset="0"/>
              </a:rPr>
            </a:br>
            <a:r>
              <a:rPr lang="en-IN" b="0" dirty="0">
                <a:solidFill>
                  <a:srgbClr val="C99CC6"/>
                </a:solidFill>
                <a:effectLst/>
                <a:latin typeface="Times New Roman" panose="02020603050405020304" pitchFamily="18" charset="0"/>
                <a:cs typeface="Times New Roman" panose="02020603050405020304" pitchFamily="18" charset="0"/>
              </a:rPr>
              <a:t>import</a:t>
            </a:r>
            <a:r>
              <a:rPr lang="en-IN" b="0" dirty="0">
                <a:solidFill>
                  <a:srgbClr val="D4D4D4"/>
                </a:solidFill>
                <a:effectLst/>
                <a:latin typeface="Times New Roman" panose="02020603050405020304" pitchFamily="18" charset="0"/>
                <a:cs typeface="Times New Roman" panose="02020603050405020304" pitchFamily="18" charset="0"/>
              </a:rPr>
              <a:t> tensorflow </a:t>
            </a:r>
            <a:r>
              <a:rPr lang="en-IN" b="0" dirty="0">
                <a:solidFill>
                  <a:srgbClr val="C99CC6"/>
                </a:solidFill>
                <a:effectLst/>
                <a:latin typeface="Times New Roman" panose="02020603050405020304" pitchFamily="18" charset="0"/>
                <a:cs typeface="Times New Roman" panose="02020603050405020304" pitchFamily="18" charset="0"/>
              </a:rPr>
              <a:t>as</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tf</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a:solidFill>
                  <a:srgbClr val="82B76C"/>
                </a:solidFill>
                <a:effectLst/>
                <a:latin typeface="Times New Roman" panose="02020603050405020304" pitchFamily="18" charset="0"/>
                <a:cs typeface="Times New Roman" panose="02020603050405020304" pitchFamily="18" charset="0"/>
              </a:rPr>
              <a:t># Deep Learning (</a:t>
            </a:r>
            <a:r>
              <a:rPr lang="en-IN" b="0" dirty="0" err="1">
                <a:solidFill>
                  <a:srgbClr val="82B76C"/>
                </a:solidFill>
                <a:effectLst/>
                <a:latin typeface="Times New Roman" panose="02020603050405020304" pitchFamily="18" charset="0"/>
                <a:cs typeface="Times New Roman" panose="02020603050405020304" pitchFamily="18" charset="0"/>
              </a:rPr>
              <a:t>Keras</a:t>
            </a:r>
            <a:r>
              <a:rPr lang="en-IN" b="0" dirty="0">
                <a:solidFill>
                  <a:srgbClr val="82B76C"/>
                </a:solidFill>
                <a:effectLst/>
                <a:latin typeface="Times New Roman" panose="02020603050405020304" pitchFamily="18" charset="0"/>
                <a:cs typeface="Times New Roman" panose="02020603050405020304" pitchFamily="18" charset="0"/>
              </a:rPr>
              <a:t>/TensorFlow)</a:t>
            </a:r>
            <a:endParaRPr lang="en-IN" b="0" dirty="0">
              <a:solidFill>
                <a:srgbClr val="D4D4D4"/>
              </a:solidFill>
              <a:effectLst/>
              <a:latin typeface="Times New Roman" panose="02020603050405020304" pitchFamily="18" charset="0"/>
              <a:cs typeface="Times New Roman" panose="02020603050405020304" pitchFamily="18" charset="0"/>
            </a:endParaRPr>
          </a:p>
          <a:p>
            <a:r>
              <a:rPr lang="en-IN" b="0" dirty="0">
                <a:solidFill>
                  <a:srgbClr val="C99CC6"/>
                </a:solidFill>
                <a:effectLst/>
                <a:latin typeface="Times New Roman" panose="02020603050405020304" pitchFamily="18" charset="0"/>
                <a:cs typeface="Times New Roman" panose="02020603050405020304" pitchFamily="18" charset="0"/>
              </a:rPr>
              <a:t>from</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tensorflow.keras.models</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a:solidFill>
                  <a:srgbClr val="C99CC6"/>
                </a:solidFill>
                <a:effectLst/>
                <a:latin typeface="Times New Roman" panose="02020603050405020304" pitchFamily="18" charset="0"/>
                <a:cs typeface="Times New Roman" panose="02020603050405020304" pitchFamily="18" charset="0"/>
              </a:rPr>
              <a:t>import</a:t>
            </a:r>
            <a:r>
              <a:rPr lang="en-IN" b="0" dirty="0">
                <a:solidFill>
                  <a:srgbClr val="D4D4D4"/>
                </a:solidFill>
                <a:effectLst/>
                <a:latin typeface="Times New Roman" panose="02020603050405020304" pitchFamily="18" charset="0"/>
                <a:cs typeface="Times New Roman" panose="02020603050405020304" pitchFamily="18" charset="0"/>
              </a:rPr>
              <a:t> Model</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Sequential</a:t>
            </a:r>
          </a:p>
          <a:p>
            <a:r>
              <a:rPr lang="en-IN" b="0" dirty="0">
                <a:solidFill>
                  <a:srgbClr val="C99CC6"/>
                </a:solidFill>
                <a:effectLst/>
                <a:latin typeface="Times New Roman" panose="02020603050405020304" pitchFamily="18" charset="0"/>
                <a:cs typeface="Times New Roman" panose="02020603050405020304" pitchFamily="18" charset="0"/>
              </a:rPr>
              <a:t>from</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tensorflow.keras.layers</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a:solidFill>
                  <a:srgbClr val="C99CC6"/>
                </a:solidFill>
                <a:effectLst/>
                <a:latin typeface="Times New Roman" panose="02020603050405020304" pitchFamily="18" charset="0"/>
                <a:cs typeface="Times New Roman" panose="02020603050405020304" pitchFamily="18" charset="0"/>
              </a:rPr>
              <a:t>import</a:t>
            </a:r>
            <a:r>
              <a:rPr lang="en-IN" b="0" dirty="0">
                <a:solidFill>
                  <a:srgbClr val="D4D4D4"/>
                </a:solidFill>
                <a:effectLst/>
                <a:latin typeface="Times New Roman" panose="02020603050405020304" pitchFamily="18" charset="0"/>
                <a:cs typeface="Times New Roman" panose="02020603050405020304" pitchFamily="18" charset="0"/>
              </a:rPr>
              <a:t> Input</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GRU</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Bidirectional</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Dense</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Dropout</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LayerNormalization</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MultiHeadAttention</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br>
              <a:rPr lang="en-IN" b="0" dirty="0">
                <a:solidFill>
                  <a:srgbClr val="D4D4D4"/>
                </a:solidFill>
                <a:effectLst/>
                <a:latin typeface="Times New Roman" panose="02020603050405020304" pitchFamily="18" charset="0"/>
                <a:cs typeface="Times New Roman" panose="02020603050405020304" pitchFamily="18" charset="0"/>
              </a:rPr>
            </a:br>
            <a:r>
              <a:rPr lang="en-IN" b="0" dirty="0">
                <a:solidFill>
                  <a:srgbClr val="C99CC6"/>
                </a:solidFill>
                <a:effectLst/>
                <a:latin typeface="Times New Roman" panose="02020603050405020304" pitchFamily="18" charset="0"/>
                <a:cs typeface="Times New Roman" panose="02020603050405020304" pitchFamily="18" charset="0"/>
              </a:rPr>
              <a:t>from</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xgboost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a:solidFill>
                  <a:srgbClr val="C99CC6"/>
                </a:solidFill>
                <a:effectLst/>
                <a:latin typeface="Times New Roman" panose="02020603050405020304" pitchFamily="18" charset="0"/>
                <a:cs typeface="Times New Roman" panose="02020603050405020304" pitchFamily="18" charset="0"/>
              </a:rPr>
              <a:t>import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XGBRegressor</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a:solidFill>
                  <a:srgbClr val="82B76C"/>
                </a:solidFill>
                <a:effectLst/>
                <a:latin typeface="Times New Roman" panose="02020603050405020304" pitchFamily="18" charset="0"/>
                <a:cs typeface="Times New Roman" panose="02020603050405020304" pitchFamily="18" charset="0"/>
              </a:rPr>
              <a:t># ML Models</a:t>
            </a:r>
            <a:endParaRPr lang="en-IN" b="0" dirty="0">
              <a:solidFill>
                <a:srgbClr val="D4D4D4"/>
              </a:solidFill>
              <a:effectLst/>
              <a:latin typeface="Times New Roman" panose="02020603050405020304" pitchFamily="18" charset="0"/>
              <a:cs typeface="Times New Roman" panose="02020603050405020304" pitchFamily="18" charset="0"/>
            </a:endParaRPr>
          </a:p>
          <a:p>
            <a:r>
              <a:rPr lang="en-IN" b="0" dirty="0">
                <a:solidFill>
                  <a:srgbClr val="C99CC6"/>
                </a:solidFill>
                <a:effectLst/>
                <a:latin typeface="Times New Roman" panose="02020603050405020304" pitchFamily="18" charset="0"/>
                <a:cs typeface="Times New Roman" panose="02020603050405020304" pitchFamily="18" charset="0"/>
              </a:rPr>
              <a:t>from</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lightgbm</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a:solidFill>
                  <a:srgbClr val="C99CC6"/>
                </a:solidFill>
                <a:effectLst/>
                <a:latin typeface="Times New Roman" panose="02020603050405020304" pitchFamily="18" charset="0"/>
                <a:cs typeface="Times New Roman" panose="02020603050405020304" pitchFamily="18" charset="0"/>
              </a:rPr>
              <a:t>import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LGBMRegressor</a:t>
            </a:r>
            <a:endParaRPr lang="en-IN" b="0" dirty="0">
              <a:solidFill>
                <a:srgbClr val="D4D4D4"/>
              </a:solidFill>
              <a:effectLst/>
              <a:latin typeface="Times New Roman" panose="02020603050405020304" pitchFamily="18" charset="0"/>
              <a:cs typeface="Times New Roman" panose="02020603050405020304" pitchFamily="18" charset="0"/>
            </a:endParaRPr>
          </a:p>
          <a:p>
            <a:r>
              <a:rPr lang="en-IN" b="0" dirty="0">
                <a:solidFill>
                  <a:srgbClr val="C99CC6"/>
                </a:solidFill>
                <a:effectLst/>
                <a:latin typeface="Times New Roman" panose="02020603050405020304" pitchFamily="18" charset="0"/>
                <a:cs typeface="Times New Roman" panose="02020603050405020304" pitchFamily="18" charset="0"/>
              </a:rPr>
              <a:t>from</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catboost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a:solidFill>
                  <a:srgbClr val="C99CC6"/>
                </a:solidFill>
                <a:effectLst/>
                <a:latin typeface="Times New Roman" panose="02020603050405020304" pitchFamily="18" charset="0"/>
                <a:cs typeface="Times New Roman" panose="02020603050405020304" pitchFamily="18" charset="0"/>
              </a:rPr>
              <a:t>import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CatBoostRegressor</a:t>
            </a:r>
            <a:r>
              <a:rPr lang="en-IN" b="0" dirty="0">
                <a:solidFill>
                  <a:srgbClr val="D4D4D4"/>
                </a:solidFill>
                <a:effectLst/>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CC3F7E7-3B6D-48F9-A1E0-7CD48527B2B8}"/>
              </a:ext>
            </a:extLst>
          </p:cNvPr>
          <p:cNvSpPr txBox="1"/>
          <p:nvPr/>
        </p:nvSpPr>
        <p:spPr>
          <a:xfrm>
            <a:off x="6096000" y="1230883"/>
            <a:ext cx="6053583" cy="5078313"/>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M</a:t>
            </a:r>
            <a:r>
              <a:rPr lang="en-IN" b="1" dirty="0">
                <a:effectLst/>
                <a:latin typeface="Times New Roman" panose="02020603050405020304" pitchFamily="18" charset="0"/>
                <a:cs typeface="Times New Roman" panose="02020603050405020304" pitchFamily="18" charset="0"/>
              </a:rPr>
              <a:t>ounted Google </a:t>
            </a:r>
            <a:r>
              <a:rPr lang="en-IN" b="1" dirty="0" err="1">
                <a:effectLst/>
                <a:latin typeface="Times New Roman" panose="02020603050405020304" pitchFamily="18" charset="0"/>
                <a:cs typeface="Times New Roman" panose="02020603050405020304" pitchFamily="18" charset="0"/>
              </a:rPr>
              <a:t>Colab</a:t>
            </a:r>
            <a:r>
              <a:rPr lang="en-IN" b="1" dirty="0">
                <a:effectLst/>
                <a:latin typeface="Times New Roman" panose="02020603050405020304" pitchFamily="18" charset="0"/>
                <a:cs typeface="Times New Roman" panose="02020603050405020304" pitchFamily="18" charset="0"/>
              </a:rPr>
              <a:t> &amp; </a:t>
            </a:r>
            <a:r>
              <a:rPr lang="en-IN" b="1" dirty="0">
                <a:latin typeface="Times New Roman" panose="02020603050405020304" pitchFamily="18" charset="0"/>
                <a:cs typeface="Times New Roman" panose="02020603050405020304" pitchFamily="18" charset="0"/>
              </a:rPr>
              <a:t>Load CSV file:</a:t>
            </a:r>
            <a:endParaRPr lang="en-IN" b="1" dirty="0">
              <a:effectLst/>
              <a:latin typeface="Times New Roman" panose="02020603050405020304" pitchFamily="18" charset="0"/>
              <a:cs typeface="Times New Roman" panose="02020603050405020304" pitchFamily="18" charset="0"/>
            </a:endParaRPr>
          </a:p>
          <a:p>
            <a:r>
              <a:rPr lang="en-US" b="0" dirty="0">
                <a:solidFill>
                  <a:srgbClr val="C99CC6"/>
                </a:solidFill>
                <a:effectLst/>
                <a:latin typeface="Times New Roman" panose="02020603050405020304" pitchFamily="18" charset="0"/>
                <a:cs typeface="Times New Roman" panose="02020603050405020304" pitchFamily="18" charset="0"/>
              </a:rPr>
              <a:t>from</a:t>
            </a:r>
            <a:r>
              <a:rPr lang="en-US" b="0" dirty="0">
                <a:solidFill>
                  <a:srgbClr val="D4D4D4"/>
                </a:solidFill>
                <a:effectLst/>
                <a:latin typeface="Times New Roman" panose="02020603050405020304" pitchFamily="18" charset="0"/>
                <a:cs typeface="Times New Roman" panose="02020603050405020304" pitchFamily="18" charset="0"/>
              </a:rPr>
              <a:t> </a:t>
            </a:r>
            <a:r>
              <a:rPr lang="en-US" b="0" dirty="0" err="1">
                <a:solidFill>
                  <a:srgbClr val="D4D4D4"/>
                </a:solidFill>
                <a:effectLst/>
                <a:latin typeface="Times New Roman" panose="02020603050405020304" pitchFamily="18" charset="0"/>
                <a:cs typeface="Times New Roman" panose="02020603050405020304" pitchFamily="18" charset="0"/>
              </a:rPr>
              <a:t>google.colab</a:t>
            </a:r>
            <a:r>
              <a:rPr lang="en-US" b="0" dirty="0">
                <a:solidFill>
                  <a:srgbClr val="D4D4D4"/>
                </a:solidFill>
                <a:effectLst/>
                <a:latin typeface="Times New Roman" panose="02020603050405020304" pitchFamily="18" charset="0"/>
                <a:cs typeface="Times New Roman" panose="02020603050405020304" pitchFamily="18" charset="0"/>
              </a:rPr>
              <a:t> </a:t>
            </a:r>
            <a:r>
              <a:rPr lang="en-US" b="0" dirty="0">
                <a:solidFill>
                  <a:srgbClr val="C99CC6"/>
                </a:solidFill>
                <a:effectLst/>
                <a:latin typeface="Times New Roman" panose="02020603050405020304" pitchFamily="18" charset="0"/>
                <a:cs typeface="Times New Roman" panose="02020603050405020304" pitchFamily="18" charset="0"/>
              </a:rPr>
              <a:t>import</a:t>
            </a:r>
            <a:r>
              <a:rPr lang="en-US" b="0" dirty="0">
                <a:solidFill>
                  <a:srgbClr val="D4D4D4"/>
                </a:solidFill>
                <a:effectLst/>
                <a:latin typeface="Times New Roman" panose="02020603050405020304" pitchFamily="18" charset="0"/>
                <a:cs typeface="Times New Roman" panose="02020603050405020304" pitchFamily="18" charset="0"/>
              </a:rPr>
              <a:t> drive</a:t>
            </a:r>
          </a:p>
          <a:p>
            <a:r>
              <a:rPr lang="en-US" b="0" dirty="0" err="1">
                <a:solidFill>
                  <a:srgbClr val="D4D4D4"/>
                </a:solidFill>
                <a:effectLst/>
                <a:latin typeface="Times New Roman" panose="02020603050405020304" pitchFamily="18" charset="0"/>
                <a:cs typeface="Times New Roman" panose="02020603050405020304" pitchFamily="18" charset="0"/>
              </a:rPr>
              <a:t>drive.mount</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CE9178"/>
                </a:solidFill>
                <a:effectLst/>
                <a:latin typeface="Times New Roman" panose="02020603050405020304" pitchFamily="18" charset="0"/>
                <a:cs typeface="Times New Roman" panose="02020603050405020304" pitchFamily="18" charset="0"/>
              </a:rPr>
              <a:t>'/content/drive’</a:t>
            </a:r>
            <a:r>
              <a:rPr lang="en-US" b="0" dirty="0">
                <a:solidFill>
                  <a:srgbClr val="DCDCDC"/>
                </a:solidFill>
                <a:effectLst/>
                <a:latin typeface="Times New Roman" panose="02020603050405020304" pitchFamily="18" charset="0"/>
                <a:cs typeface="Times New Roman" panose="02020603050405020304" pitchFamily="18" charset="0"/>
              </a:rPr>
              <a:t>)</a:t>
            </a:r>
            <a:endParaRPr lang="en-IN" b="0" dirty="0">
              <a:solidFill>
                <a:srgbClr val="82B76C"/>
              </a:solidFill>
              <a:effectLst/>
              <a:latin typeface="Times New Roman" panose="02020603050405020304" pitchFamily="18" charset="0"/>
              <a:cs typeface="Times New Roman" panose="02020603050405020304" pitchFamily="18" charset="0"/>
            </a:endParaRPr>
          </a:p>
          <a:p>
            <a:r>
              <a:rPr lang="en-IN" b="0" dirty="0">
                <a:solidFill>
                  <a:srgbClr val="D4D4D4"/>
                </a:solidFill>
                <a:effectLst/>
                <a:latin typeface="Times New Roman" panose="02020603050405020304" pitchFamily="18" charset="0"/>
                <a:cs typeface="Times New Roman" panose="02020603050405020304" pitchFamily="18" charset="0"/>
              </a:rPr>
              <a:t>data=</a:t>
            </a:r>
            <a:r>
              <a:rPr lang="en-IN" b="0" dirty="0" err="1">
                <a:solidFill>
                  <a:srgbClr val="D4D4D4"/>
                </a:solidFill>
                <a:effectLst/>
                <a:latin typeface="Times New Roman" panose="02020603050405020304" pitchFamily="18" charset="0"/>
                <a:cs typeface="Times New Roman" panose="02020603050405020304" pitchFamily="18" charset="0"/>
              </a:rPr>
              <a:t>pd.read_csv</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CE9178"/>
                </a:solidFill>
                <a:effectLst/>
                <a:latin typeface="Times New Roman" panose="02020603050405020304" pitchFamily="18" charset="0"/>
                <a:cs typeface="Times New Roman" panose="02020603050405020304" pitchFamily="18" charset="0"/>
              </a:rPr>
              <a:t>'/content/drive/</a:t>
            </a:r>
            <a:r>
              <a:rPr lang="en-IN" b="0" dirty="0" err="1">
                <a:solidFill>
                  <a:srgbClr val="CE9178"/>
                </a:solidFill>
                <a:effectLst/>
                <a:latin typeface="Times New Roman" panose="02020603050405020304" pitchFamily="18" charset="0"/>
                <a:cs typeface="Times New Roman" panose="02020603050405020304" pitchFamily="18" charset="0"/>
              </a:rPr>
              <a:t>MyDrive</a:t>
            </a:r>
            <a:r>
              <a:rPr lang="en-IN" b="0" dirty="0">
                <a:solidFill>
                  <a:srgbClr val="CE9178"/>
                </a:solidFill>
                <a:effectLst/>
                <a:latin typeface="Times New Roman" panose="02020603050405020304" pitchFamily="18" charset="0"/>
                <a:cs typeface="Times New Roman" panose="02020603050405020304" pitchFamily="18" charset="0"/>
              </a:rPr>
              <a:t>/Project/Dataset/Results_MADE.csv'</a:t>
            </a:r>
            <a:r>
              <a:rPr lang="en-IN" b="0" dirty="0">
                <a:solidFill>
                  <a:srgbClr val="DCDCDC"/>
                </a:solidFill>
                <a:effectLst/>
                <a:latin typeface="Times New Roman" panose="02020603050405020304" pitchFamily="18" charset="0"/>
                <a:cs typeface="Times New Roman" panose="02020603050405020304" pitchFamily="18" charset="0"/>
              </a:rPr>
              <a:t>)</a:t>
            </a:r>
            <a:endParaRPr lang="en-IN" b="0" dirty="0">
              <a:solidFill>
                <a:srgbClr val="D4D4D4"/>
              </a:solidFill>
              <a:effectLst/>
              <a:latin typeface="Times New Roman" panose="02020603050405020304" pitchFamily="18" charset="0"/>
              <a:cs typeface="Times New Roman" panose="02020603050405020304" pitchFamily="18" charset="0"/>
            </a:endParaRPr>
          </a:p>
          <a:p>
            <a:r>
              <a:rPr lang="en-IN" b="0" dirty="0">
                <a:solidFill>
                  <a:srgbClr val="D4D4D4"/>
                </a:solidFill>
                <a:effectLst/>
                <a:latin typeface="Times New Roman" panose="02020603050405020304" pitchFamily="18" charset="0"/>
                <a:cs typeface="Times New Roman" panose="02020603050405020304" pitchFamily="18" charset="0"/>
              </a:rPr>
              <a:t>df=</a:t>
            </a:r>
            <a:r>
              <a:rPr lang="en-IN" b="0" dirty="0" err="1">
                <a:solidFill>
                  <a:srgbClr val="D4D4D4"/>
                </a:solidFill>
                <a:effectLst/>
                <a:latin typeface="Times New Roman" panose="02020603050405020304" pitchFamily="18" charset="0"/>
                <a:cs typeface="Times New Roman" panose="02020603050405020304" pitchFamily="18" charset="0"/>
              </a:rPr>
              <a:t>pd.DataFrame</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data</a:t>
            </a:r>
            <a:r>
              <a:rPr lang="en-IN" b="0" dirty="0">
                <a:solidFill>
                  <a:srgbClr val="DCDCDC"/>
                </a:solidFill>
                <a:effectLst/>
                <a:latin typeface="Times New Roman" panose="02020603050405020304" pitchFamily="18" charset="0"/>
                <a:cs typeface="Times New Roman" panose="02020603050405020304" pitchFamily="18" charset="0"/>
              </a:rPr>
              <a:t>)</a:t>
            </a:r>
          </a:p>
          <a:p>
            <a:endParaRPr lang="en-IN" b="0" dirty="0">
              <a:solidFill>
                <a:srgbClr val="D4D4D4"/>
              </a:solidFill>
              <a:effectLst/>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Remove Spaces and Duplicates:</a:t>
            </a:r>
          </a:p>
          <a:p>
            <a:r>
              <a:rPr lang="en-IN" b="0" dirty="0" err="1">
                <a:solidFill>
                  <a:srgbClr val="D4D4D4"/>
                </a:solidFill>
                <a:effectLst/>
                <a:latin typeface="Times New Roman" panose="02020603050405020304" pitchFamily="18" charset="0"/>
                <a:cs typeface="Times New Roman" panose="02020603050405020304" pitchFamily="18" charset="0"/>
              </a:rPr>
              <a:t>df.columns</a:t>
            </a:r>
            <a:r>
              <a:rPr lang="en-IN" b="0" dirty="0">
                <a:solidFill>
                  <a:srgbClr val="D4D4D4"/>
                </a:solidFill>
                <a:effectLst/>
                <a:latin typeface="Times New Roman" panose="02020603050405020304" pitchFamily="18" charset="0"/>
                <a:cs typeface="Times New Roman" panose="02020603050405020304" pitchFamily="18" charset="0"/>
              </a:rPr>
              <a:t> = </a:t>
            </a:r>
            <a:r>
              <a:rPr lang="en-IN" b="0" dirty="0" err="1">
                <a:solidFill>
                  <a:srgbClr val="D4D4D4"/>
                </a:solidFill>
                <a:effectLst/>
                <a:latin typeface="Times New Roman" panose="02020603050405020304" pitchFamily="18" charset="0"/>
                <a:cs typeface="Times New Roman" panose="02020603050405020304" pitchFamily="18" charset="0"/>
              </a:rPr>
              <a:t>df.columns.</a:t>
            </a:r>
            <a:r>
              <a:rPr lang="en-IN" b="0" dirty="0" err="1">
                <a:solidFill>
                  <a:srgbClr val="4EC9B0"/>
                </a:solidFill>
                <a:effectLst/>
                <a:latin typeface="Times New Roman" panose="02020603050405020304" pitchFamily="18" charset="0"/>
                <a:cs typeface="Times New Roman" panose="02020603050405020304" pitchFamily="18" charset="0"/>
              </a:rPr>
              <a:t>str</a:t>
            </a:r>
            <a:r>
              <a:rPr lang="en-IN" b="0" dirty="0" err="1">
                <a:solidFill>
                  <a:srgbClr val="D4D4D4"/>
                </a:solidFill>
                <a:effectLst/>
                <a:latin typeface="Times New Roman" panose="02020603050405020304" pitchFamily="18" charset="0"/>
                <a:cs typeface="Times New Roman" panose="02020603050405020304" pitchFamily="18" charset="0"/>
              </a:rPr>
              <a:t>.strip</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a:t>
            </a:r>
            <a:r>
              <a:rPr lang="en-IN" b="0" dirty="0" err="1">
                <a:solidFill>
                  <a:srgbClr val="4EC9B0"/>
                </a:solidFill>
                <a:effectLst/>
                <a:latin typeface="Times New Roman" panose="02020603050405020304" pitchFamily="18" charset="0"/>
                <a:cs typeface="Times New Roman" panose="02020603050405020304" pitchFamily="18" charset="0"/>
              </a:rPr>
              <a:t>str</a:t>
            </a:r>
            <a:r>
              <a:rPr lang="en-IN" b="0" dirty="0" err="1">
                <a:solidFill>
                  <a:srgbClr val="D4D4D4"/>
                </a:solidFill>
                <a:effectLst/>
                <a:latin typeface="Times New Roman" panose="02020603050405020304" pitchFamily="18" charset="0"/>
                <a:cs typeface="Times New Roman" panose="02020603050405020304" pitchFamily="18" charset="0"/>
              </a:rPr>
              <a:t>.replace</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r</a:t>
            </a:r>
            <a:r>
              <a:rPr lang="en-IN" b="0" dirty="0">
                <a:solidFill>
                  <a:srgbClr val="CE9178"/>
                </a:solidFill>
                <a:effectLst/>
                <a:latin typeface="Times New Roman" panose="02020603050405020304" pitchFamily="18" charset="0"/>
                <a:cs typeface="Times New Roman" panose="02020603050405020304" pitchFamily="18" charset="0"/>
              </a:rPr>
              <a:t>'\s+'</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a:solidFill>
                  <a:srgbClr val="CE9178"/>
                </a:solidFill>
                <a:effectLst/>
                <a:latin typeface="Times New Roman" panose="02020603050405020304" pitchFamily="18" charset="0"/>
                <a:cs typeface="Times New Roman" panose="02020603050405020304" pitchFamily="18" charset="0"/>
              </a:rPr>
              <a:t>'_’</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err="1">
                <a:solidFill>
                  <a:srgbClr val="D4D4D4"/>
                </a:solidFill>
                <a:effectLst/>
                <a:latin typeface="Times New Roman" panose="02020603050405020304" pitchFamily="18" charset="0"/>
                <a:cs typeface="Times New Roman" panose="02020603050405020304" pitchFamily="18" charset="0"/>
              </a:rPr>
              <a:t>regx</a:t>
            </a:r>
            <a:r>
              <a:rPr lang="en-IN" b="0" dirty="0">
                <a:solidFill>
                  <a:srgbClr val="D4D4D4"/>
                </a:solidFill>
                <a:effectLst/>
                <a:latin typeface="Times New Roman" panose="02020603050405020304" pitchFamily="18" charset="0"/>
                <a:cs typeface="Times New Roman" panose="02020603050405020304" pitchFamily="18" charset="0"/>
              </a:rPr>
              <a:t>=</a:t>
            </a:r>
            <a:r>
              <a:rPr lang="en-IN" b="0" dirty="0">
                <a:solidFill>
                  <a:srgbClr val="569CD6"/>
                </a:solidFill>
                <a:effectLst/>
                <a:latin typeface="Times New Roman" panose="02020603050405020304" pitchFamily="18" charset="0"/>
                <a:cs typeface="Times New Roman" panose="02020603050405020304" pitchFamily="18" charset="0"/>
              </a:rPr>
              <a:t>T</a:t>
            </a:r>
            <a:r>
              <a:rPr lang="en-IN" b="0" dirty="0">
                <a:solidFill>
                  <a:srgbClr val="DCDCDC"/>
                </a:solidFill>
                <a:effectLst/>
                <a:latin typeface="Times New Roman" panose="02020603050405020304" pitchFamily="18" charset="0"/>
                <a:cs typeface="Times New Roman" panose="02020603050405020304" pitchFamily="18" charset="0"/>
              </a:rPr>
              <a:t>)</a:t>
            </a:r>
            <a:endParaRPr lang="en-IN" b="0" dirty="0">
              <a:solidFill>
                <a:srgbClr val="D4D4D4"/>
              </a:solidFill>
              <a:effectLst/>
              <a:latin typeface="Times New Roman" panose="02020603050405020304" pitchFamily="18" charset="0"/>
              <a:cs typeface="Times New Roman" panose="02020603050405020304" pitchFamily="18" charset="0"/>
            </a:endParaRPr>
          </a:p>
          <a:p>
            <a:r>
              <a:rPr lang="en-IN" b="0" dirty="0">
                <a:solidFill>
                  <a:srgbClr val="DCDCAA"/>
                </a:solidFill>
                <a:effectLst/>
                <a:latin typeface="Times New Roman" panose="02020603050405020304" pitchFamily="18" charset="0"/>
                <a:cs typeface="Times New Roman" panose="02020603050405020304" pitchFamily="18" charset="0"/>
              </a:rPr>
              <a:t>print</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err="1">
                <a:solidFill>
                  <a:srgbClr val="D4D4D4"/>
                </a:solidFill>
                <a:effectLst/>
                <a:latin typeface="Times New Roman" panose="02020603050405020304" pitchFamily="18" charset="0"/>
                <a:cs typeface="Times New Roman" panose="02020603050405020304" pitchFamily="18" charset="0"/>
              </a:rPr>
              <a:t>df.columns</a:t>
            </a:r>
            <a:r>
              <a:rPr lang="en-IN" b="0" dirty="0">
                <a:solidFill>
                  <a:srgbClr val="DCDCDC"/>
                </a:solidFill>
                <a:effectLst/>
                <a:latin typeface="Times New Roman" panose="02020603050405020304" pitchFamily="18" charset="0"/>
                <a:cs typeface="Times New Roman" panose="02020603050405020304" pitchFamily="18" charset="0"/>
              </a:rPr>
              <a:t>)</a:t>
            </a:r>
          </a:p>
          <a:p>
            <a:r>
              <a:rPr lang="en-US" b="0" dirty="0">
                <a:solidFill>
                  <a:srgbClr val="D4D4D4"/>
                </a:solidFill>
                <a:effectLst/>
                <a:latin typeface="Times New Roman" panose="02020603050405020304" pitchFamily="18" charset="0"/>
                <a:cs typeface="Times New Roman" panose="02020603050405020304" pitchFamily="18" charset="0"/>
              </a:rPr>
              <a:t>df =</a:t>
            </a:r>
            <a:r>
              <a:rPr lang="en-US" b="0" dirty="0" err="1">
                <a:solidFill>
                  <a:srgbClr val="D4D4D4"/>
                </a:solidFill>
                <a:effectLst/>
                <a:latin typeface="Times New Roman" panose="02020603050405020304" pitchFamily="18" charset="0"/>
                <a:cs typeface="Times New Roman" panose="02020603050405020304" pitchFamily="18" charset="0"/>
              </a:rPr>
              <a:t>df.fillna</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err="1">
                <a:solidFill>
                  <a:srgbClr val="D4D4D4"/>
                </a:solidFill>
                <a:effectLst/>
                <a:latin typeface="Times New Roman" panose="02020603050405020304" pitchFamily="18" charset="0"/>
                <a:cs typeface="Times New Roman" panose="02020603050405020304" pitchFamily="18" charset="0"/>
              </a:rPr>
              <a:t>df.mean</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err="1">
                <a:solidFill>
                  <a:srgbClr val="D4D4D4"/>
                </a:solidFill>
                <a:effectLst/>
                <a:latin typeface="Times New Roman" panose="02020603050405020304" pitchFamily="18" charset="0"/>
                <a:cs typeface="Times New Roman" panose="02020603050405020304" pitchFamily="18" charset="0"/>
              </a:rPr>
              <a:t>numeric_only</a:t>
            </a:r>
            <a:r>
              <a:rPr lang="en-US" b="0" dirty="0">
                <a:solidFill>
                  <a:srgbClr val="D4D4D4"/>
                </a:solidFill>
                <a:effectLst/>
                <a:latin typeface="Times New Roman" panose="02020603050405020304" pitchFamily="18" charset="0"/>
                <a:cs typeface="Times New Roman" panose="02020603050405020304" pitchFamily="18" charset="0"/>
              </a:rPr>
              <a:t>=</a:t>
            </a:r>
            <a:r>
              <a:rPr lang="en-US" b="0" dirty="0">
                <a:solidFill>
                  <a:srgbClr val="569CD6"/>
                </a:solidFill>
                <a:effectLst/>
                <a:latin typeface="Times New Roman" panose="02020603050405020304" pitchFamily="18" charset="0"/>
                <a:cs typeface="Times New Roman" panose="02020603050405020304" pitchFamily="18" charset="0"/>
              </a:rPr>
              <a:t>True</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a:t>
            </a:r>
            <a:r>
              <a:rPr lang="en-US" b="0" dirty="0" err="1">
                <a:solidFill>
                  <a:srgbClr val="D4D4D4"/>
                </a:solidFill>
                <a:effectLst/>
                <a:latin typeface="Times New Roman" panose="02020603050405020304" pitchFamily="18" charset="0"/>
                <a:cs typeface="Times New Roman" panose="02020603050405020304" pitchFamily="18" charset="0"/>
              </a:rPr>
              <a:t>drop_duplicates</a:t>
            </a:r>
            <a:r>
              <a:rPr lang="en-US" b="0" dirty="0">
                <a:solidFill>
                  <a:srgbClr val="DCDCDC"/>
                </a:solidFill>
                <a:effectLst/>
                <a:latin typeface="Times New Roman" panose="02020603050405020304" pitchFamily="18" charset="0"/>
                <a:cs typeface="Times New Roman" panose="02020603050405020304" pitchFamily="18" charset="0"/>
              </a:rPr>
              <a:t>()</a:t>
            </a:r>
          </a:p>
          <a:p>
            <a:endParaRPr lang="en-IN" b="0" dirty="0">
              <a:solidFill>
                <a:srgbClr val="D4D4D4"/>
              </a:solidFill>
              <a:effectLst/>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Correlation Heatmap:</a:t>
            </a:r>
          </a:p>
          <a:p>
            <a:r>
              <a:rPr lang="en-IN" b="0" dirty="0" err="1">
                <a:solidFill>
                  <a:srgbClr val="D4D4D4"/>
                </a:solidFill>
                <a:effectLst/>
                <a:latin typeface="Times New Roman" panose="02020603050405020304" pitchFamily="18" charset="0"/>
                <a:cs typeface="Times New Roman" panose="02020603050405020304" pitchFamily="18" charset="0"/>
              </a:rPr>
              <a:t>plt.figure</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err="1">
                <a:solidFill>
                  <a:srgbClr val="D4D4D4"/>
                </a:solidFill>
                <a:effectLst/>
                <a:latin typeface="Times New Roman" panose="02020603050405020304" pitchFamily="18" charset="0"/>
                <a:cs typeface="Times New Roman" panose="02020603050405020304" pitchFamily="18" charset="0"/>
              </a:rPr>
              <a:t>figsize</a:t>
            </a:r>
            <a:r>
              <a:rPr lang="en-IN" b="0" dirty="0">
                <a:solidFill>
                  <a:srgbClr val="D4D4D4"/>
                </a:solidFill>
                <a:effectLst/>
                <a:latin typeface="Times New Roman" panose="02020603050405020304" pitchFamily="18" charset="0"/>
                <a:cs typeface="Times New Roman" panose="02020603050405020304" pitchFamily="18" charset="0"/>
              </a:rPr>
              <a:t>=</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B5CEA8"/>
                </a:solidFill>
                <a:effectLst/>
                <a:latin typeface="Times New Roman" panose="02020603050405020304" pitchFamily="18" charset="0"/>
                <a:cs typeface="Times New Roman" panose="02020603050405020304" pitchFamily="18" charset="0"/>
              </a:rPr>
              <a:t>6</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a:solidFill>
                  <a:srgbClr val="B5CEA8"/>
                </a:solidFill>
                <a:effectLst/>
                <a:latin typeface="Times New Roman" panose="02020603050405020304" pitchFamily="18" charset="0"/>
                <a:cs typeface="Times New Roman" panose="02020603050405020304" pitchFamily="18" charset="0"/>
              </a:rPr>
              <a:t>4</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err="1">
                <a:solidFill>
                  <a:srgbClr val="D4D4D4"/>
                </a:solidFill>
                <a:effectLst/>
                <a:latin typeface="Times New Roman" panose="02020603050405020304" pitchFamily="18" charset="0"/>
                <a:cs typeface="Times New Roman" panose="02020603050405020304" pitchFamily="18" charset="0"/>
              </a:rPr>
              <a:t>sns.heatmap</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err="1">
                <a:solidFill>
                  <a:srgbClr val="D4D4D4"/>
                </a:solidFill>
                <a:effectLst/>
                <a:latin typeface="Times New Roman" panose="02020603050405020304" pitchFamily="18" charset="0"/>
                <a:cs typeface="Times New Roman" panose="02020603050405020304" pitchFamily="18" charset="0"/>
              </a:rPr>
              <a:t>df.corr</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numeric _only = </a:t>
            </a:r>
            <a:r>
              <a:rPr lang="en-IN" b="0" dirty="0">
                <a:solidFill>
                  <a:srgbClr val="569CD6"/>
                </a:solidFill>
                <a:effectLst/>
                <a:latin typeface="Times New Roman" panose="02020603050405020304" pitchFamily="18" charset="0"/>
                <a:cs typeface="Times New Roman" panose="02020603050405020304" pitchFamily="18" charset="0"/>
              </a:rPr>
              <a:t>True</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annot</a:t>
            </a:r>
            <a:r>
              <a:rPr lang="en-IN" b="0" dirty="0">
                <a:solidFill>
                  <a:srgbClr val="D4D4D4"/>
                </a:solidFill>
                <a:effectLst/>
                <a:latin typeface="Times New Roman" panose="02020603050405020304" pitchFamily="18" charset="0"/>
                <a:cs typeface="Times New Roman" panose="02020603050405020304" pitchFamily="18" charset="0"/>
              </a:rPr>
              <a:t>=</a:t>
            </a:r>
            <a:r>
              <a:rPr lang="en-IN" b="0" dirty="0" err="1">
                <a:solidFill>
                  <a:srgbClr val="569CD6"/>
                </a:solidFill>
                <a:effectLst/>
                <a:latin typeface="Times New Roman" panose="02020603050405020304" pitchFamily="18" charset="0"/>
                <a:cs typeface="Times New Roman" panose="02020603050405020304" pitchFamily="18" charset="0"/>
              </a:rPr>
              <a:t>True</a:t>
            </a:r>
            <a:r>
              <a:rPr lang="en-IN" b="0" dirty="0" err="1">
                <a:solidFill>
                  <a:srgbClr val="DCDCDC"/>
                </a:solidFill>
                <a:effectLst/>
                <a:latin typeface="Times New Roman" panose="02020603050405020304" pitchFamily="18" charset="0"/>
                <a:cs typeface="Times New Roman" panose="02020603050405020304" pitchFamily="18" charset="0"/>
              </a:rPr>
              <a:t>,</a:t>
            </a:r>
            <a:r>
              <a:rPr lang="en-IN" b="0" dirty="0" err="1">
                <a:solidFill>
                  <a:srgbClr val="D4D4D4"/>
                </a:solidFill>
                <a:effectLst/>
                <a:latin typeface="Times New Roman" panose="02020603050405020304" pitchFamily="18" charset="0"/>
                <a:cs typeface="Times New Roman" panose="02020603050405020304" pitchFamily="18" charset="0"/>
              </a:rPr>
              <a:t>cmap</a:t>
            </a:r>
            <a:r>
              <a:rPr lang="en-IN" b="0" dirty="0">
                <a:solidFill>
                  <a:srgbClr val="D4D4D4"/>
                </a:solidFill>
                <a:effectLst/>
                <a:latin typeface="Times New Roman" panose="02020603050405020304" pitchFamily="18" charset="0"/>
                <a:cs typeface="Times New Roman" panose="02020603050405020304" pitchFamily="18" charset="0"/>
              </a:rPr>
              <a:t>=</a:t>
            </a:r>
            <a:r>
              <a:rPr lang="en-IN" b="0" dirty="0">
                <a:solidFill>
                  <a:srgbClr val="CE9178"/>
                </a:solidFill>
                <a:effectLst/>
                <a:latin typeface="Times New Roman" panose="02020603050405020304" pitchFamily="18" charset="0"/>
                <a:cs typeface="Times New Roman" panose="02020603050405020304" pitchFamily="18" charset="0"/>
              </a:rPr>
              <a:t>'</a:t>
            </a:r>
            <a:r>
              <a:rPr lang="en-IN" b="0" dirty="0" err="1">
                <a:solidFill>
                  <a:srgbClr val="CE9178"/>
                </a:solidFill>
                <a:effectLst/>
                <a:latin typeface="Times New Roman" panose="02020603050405020304" pitchFamily="18" charset="0"/>
                <a:cs typeface="Times New Roman" panose="02020603050405020304" pitchFamily="18" charset="0"/>
              </a:rPr>
              <a:t>coolwarm</a:t>
            </a:r>
            <a:r>
              <a:rPr lang="en-IN" b="0" dirty="0">
                <a:solidFill>
                  <a:srgbClr val="CE9178"/>
                </a:solidFill>
                <a:effectLst/>
                <a:latin typeface="Times New Roman" panose="02020603050405020304" pitchFamily="18" charset="0"/>
                <a:cs typeface="Times New Roman" panose="02020603050405020304" pitchFamily="18" charset="0"/>
              </a:rPr>
              <a:t>'</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fmt</a:t>
            </a:r>
            <a:r>
              <a:rPr lang="en-IN" b="0" dirty="0">
                <a:solidFill>
                  <a:srgbClr val="D4D4D4"/>
                </a:solidFill>
                <a:effectLst/>
                <a:latin typeface="Times New Roman" panose="02020603050405020304" pitchFamily="18" charset="0"/>
                <a:cs typeface="Times New Roman" panose="02020603050405020304" pitchFamily="18" charset="0"/>
              </a:rPr>
              <a:t>=</a:t>
            </a:r>
            <a:r>
              <a:rPr lang="en-IN" b="0" dirty="0">
                <a:solidFill>
                  <a:srgbClr val="CE9178"/>
                </a:solidFill>
                <a:effectLst/>
                <a:latin typeface="Times New Roman" panose="02020603050405020304" pitchFamily="18" charset="0"/>
                <a:cs typeface="Times New Roman" panose="02020603050405020304" pitchFamily="18" charset="0"/>
              </a:rPr>
              <a:t>".2f"</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linewidths=</a:t>
            </a:r>
            <a:r>
              <a:rPr lang="en-IN" b="0" dirty="0">
                <a:solidFill>
                  <a:srgbClr val="B5CEA8"/>
                </a:solidFill>
                <a:effectLst/>
                <a:latin typeface="Times New Roman" panose="02020603050405020304" pitchFamily="18" charset="0"/>
                <a:cs typeface="Times New Roman" panose="02020603050405020304" pitchFamily="18" charset="0"/>
              </a:rPr>
              <a:t>0.5</a:t>
            </a:r>
            <a:r>
              <a:rPr lang="en-IN" b="0" dirty="0">
                <a:solidFill>
                  <a:srgbClr val="DCDCDC"/>
                </a:solidFill>
                <a:effectLst/>
                <a:latin typeface="Times New Roman" panose="02020603050405020304" pitchFamily="18" charset="0"/>
                <a:cs typeface="Times New Roman" panose="02020603050405020304" pitchFamily="18" charset="0"/>
              </a:rPr>
              <a:t>)</a:t>
            </a:r>
            <a:endParaRPr lang="en-IN" b="0" dirty="0">
              <a:solidFill>
                <a:srgbClr val="D4D4D4"/>
              </a:solidFill>
              <a:effectLst/>
              <a:latin typeface="Times New Roman" panose="02020603050405020304" pitchFamily="18" charset="0"/>
              <a:cs typeface="Times New Roman" panose="02020603050405020304" pitchFamily="18" charset="0"/>
            </a:endParaRPr>
          </a:p>
          <a:p>
            <a:r>
              <a:rPr lang="en-IN" b="0" dirty="0" err="1">
                <a:solidFill>
                  <a:srgbClr val="D4D4D4"/>
                </a:solidFill>
                <a:effectLst/>
                <a:latin typeface="Times New Roman" panose="02020603050405020304" pitchFamily="18" charset="0"/>
                <a:cs typeface="Times New Roman" panose="02020603050405020304" pitchFamily="18" charset="0"/>
              </a:rPr>
              <a:t>plt.title</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CE9178"/>
                </a:solidFill>
                <a:effectLst/>
                <a:latin typeface="Times New Roman" panose="02020603050405020304" pitchFamily="18" charset="0"/>
                <a:cs typeface="Times New Roman" panose="02020603050405020304" pitchFamily="18" charset="0"/>
              </a:rPr>
              <a:t>"Correlation Heatmap of Water Quality Parameters"</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a:t>
            </a:r>
            <a:r>
              <a:rPr lang="en-IN" b="0" dirty="0" err="1">
                <a:solidFill>
                  <a:srgbClr val="D4D4D4"/>
                </a:solidFill>
                <a:effectLst/>
                <a:latin typeface="Times New Roman" panose="02020603050405020304" pitchFamily="18" charset="0"/>
                <a:cs typeface="Times New Roman" panose="02020603050405020304" pitchFamily="18" charset="0"/>
              </a:rPr>
              <a:t>tight_layout</a:t>
            </a:r>
            <a:r>
              <a:rPr lang="en-IN" b="0" dirty="0">
                <a:solidFill>
                  <a:srgbClr val="DCDCDC"/>
                </a:solidFill>
                <a:effectLst/>
                <a:latin typeface="Times New Roman" panose="02020603050405020304" pitchFamily="18" charset="0"/>
                <a:cs typeface="Times New Roman" panose="02020603050405020304" pitchFamily="18" charset="0"/>
              </a:rPr>
              <a:t>()</a:t>
            </a:r>
            <a:endParaRPr lang="en-IN" b="0" dirty="0">
              <a:solidFill>
                <a:srgbClr val="D4D4D4"/>
              </a:solidFill>
              <a:effectLst/>
              <a:latin typeface="Times New Roman" panose="02020603050405020304" pitchFamily="18" charset="0"/>
              <a:cs typeface="Times New Roman" panose="02020603050405020304" pitchFamily="18" charset="0"/>
            </a:endParaRPr>
          </a:p>
          <a:p>
            <a:r>
              <a:rPr lang="en-IN" b="0" dirty="0" err="1">
                <a:solidFill>
                  <a:srgbClr val="D4D4D4"/>
                </a:solidFill>
                <a:effectLst/>
                <a:latin typeface="Times New Roman" panose="02020603050405020304" pitchFamily="18" charset="0"/>
                <a:cs typeface="Times New Roman" panose="02020603050405020304" pitchFamily="18" charset="0"/>
              </a:rPr>
              <a:t>plt.show</a:t>
            </a:r>
            <a:r>
              <a:rPr lang="en-IN" b="0" dirty="0">
                <a:solidFill>
                  <a:srgbClr val="DCDCDC"/>
                </a:solidFill>
                <a:effectLst/>
                <a:latin typeface="Times New Roman" panose="02020603050405020304" pitchFamily="18" charset="0"/>
                <a:cs typeface="Times New Roman" panose="02020603050405020304" pitchFamily="18" charset="0"/>
              </a:rPr>
              <a:t>()</a:t>
            </a:r>
            <a:endParaRPr lang="en-IN" b="0" dirty="0">
              <a:solidFill>
                <a:srgbClr val="D4D4D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A27FAEBC-2574-4C3F-9345-E73EA0D9C381}"/>
              </a:ext>
            </a:extLst>
          </p:cNvPr>
          <p:cNvSpPr txBox="1">
            <a:spLocks/>
          </p:cNvSpPr>
          <p:nvPr/>
        </p:nvSpPr>
        <p:spPr>
          <a:xfrm>
            <a:off x="3657600" y="381000"/>
            <a:ext cx="5318760" cy="693780"/>
          </a:xfrm>
          <a:prstGeom prst="rect">
            <a:avLst/>
          </a:prstGeom>
        </p:spPr>
        <p:txBody>
          <a:bodyPr vert="horz" wrap="square" lIns="0" tIns="16510" rIns="0" bIns="0" rtlCol="0">
            <a:spAutoFit/>
          </a:bodyPr>
          <a:lstStyle>
            <a:lvl1pPr>
              <a:defRPr>
                <a:latin typeface="+mj-lt"/>
                <a:ea typeface="+mj-ea"/>
                <a:cs typeface="+mj-cs"/>
              </a:defRPr>
            </a:lvl1pPr>
          </a:lstStyle>
          <a:p>
            <a:pPr marL="12700">
              <a:spcBef>
                <a:spcPts val="130"/>
              </a:spcBef>
            </a:pPr>
            <a:r>
              <a:rPr lang="en-IN" sz="4400" kern="0" spc="-30" dirty="0">
                <a:solidFill>
                  <a:sysClr val="windowText" lastClr="000000"/>
                </a:solidFill>
                <a:latin typeface="Times New Roman" panose="02020603050405020304" pitchFamily="18" charset="0"/>
                <a:cs typeface="Times New Roman" panose="02020603050405020304" pitchFamily="18" charset="0"/>
              </a:rPr>
              <a:t>IMPLEMENTATION</a:t>
            </a:r>
            <a:endParaRPr lang="en-IN" kern="0" spc="-30" dirty="0">
              <a:solidFill>
                <a:sysClr val="windowText" lastClr="000000"/>
              </a:solidFill>
              <a:latin typeface="Times New Roman" panose="02020603050405020304" pitchFamily="18" charset="0"/>
              <a:cs typeface="Times New Roman" panose="02020603050405020304" pitchFamily="18" charset="0"/>
            </a:endParaRPr>
          </a:p>
        </p:txBody>
      </p:sp>
      <p:sp>
        <p:nvSpPr>
          <p:cNvPr id="3" name="object 3">
            <a:extLst>
              <a:ext uri="{FF2B5EF4-FFF2-40B4-BE49-F238E27FC236}">
                <a16:creationId xmlns:a16="http://schemas.microsoft.com/office/drawing/2014/main" id="{0E0E28A8-A9A7-4AC1-9722-886DFAF1AFBD}"/>
              </a:ext>
            </a:extLst>
          </p:cNvPr>
          <p:cNvSpPr txBox="1"/>
          <p:nvPr/>
        </p:nvSpPr>
        <p:spPr>
          <a:xfrm>
            <a:off x="166658" y="1003485"/>
            <a:ext cx="5875149" cy="5601533"/>
          </a:xfrm>
          <a:prstGeom prst="rect">
            <a:avLst/>
          </a:prstGeom>
        </p:spPr>
        <p:txBody>
          <a:bodyPr vert="horz" wrap="square" lIns="0" tIns="60960" rIns="0" bIns="0" rtlCol="0">
            <a:spAutoFit/>
          </a:bodyPr>
          <a:lstStyle/>
          <a:p>
            <a:r>
              <a:rPr lang="en-IN" b="1" dirty="0">
                <a:effectLst/>
                <a:latin typeface="Times New Roman" panose="02020603050405020304" pitchFamily="18" charset="0"/>
                <a:cs typeface="Times New Roman" panose="02020603050405020304" pitchFamily="18" charset="0"/>
              </a:rPr>
              <a:t>StandardScaler, Train-Test Split and Reshape:</a:t>
            </a:r>
          </a:p>
          <a:p>
            <a:r>
              <a:rPr lang="en-IN" b="0" dirty="0">
                <a:solidFill>
                  <a:srgbClr val="D4D4D4"/>
                </a:solidFill>
                <a:effectLst/>
                <a:latin typeface="Times New Roman" panose="02020603050405020304" pitchFamily="18" charset="0"/>
                <a:cs typeface="Times New Roman" panose="02020603050405020304" pitchFamily="18" charset="0"/>
              </a:rPr>
              <a:t>scaler = StandardScaler</a:t>
            </a:r>
            <a:r>
              <a:rPr lang="en-IN" b="0" dirty="0">
                <a:solidFill>
                  <a:srgbClr val="DCDCDC"/>
                </a:solidFill>
                <a:effectLst/>
                <a:latin typeface="Times New Roman" panose="02020603050405020304" pitchFamily="18" charset="0"/>
                <a:cs typeface="Times New Roman" panose="02020603050405020304" pitchFamily="18" charset="0"/>
              </a:rPr>
              <a:t>()</a:t>
            </a:r>
            <a:endParaRPr lang="en-IN" b="0" dirty="0">
              <a:solidFill>
                <a:srgbClr val="D4D4D4"/>
              </a:solidFill>
              <a:effectLst/>
              <a:latin typeface="Times New Roman" panose="02020603050405020304" pitchFamily="18" charset="0"/>
              <a:cs typeface="Times New Roman" panose="02020603050405020304" pitchFamily="18" charset="0"/>
            </a:endParaRPr>
          </a:p>
          <a:p>
            <a:r>
              <a:rPr lang="en-IN" b="0" dirty="0" err="1">
                <a:solidFill>
                  <a:srgbClr val="D4D4D4"/>
                </a:solidFill>
                <a:effectLst/>
                <a:latin typeface="Times New Roman" panose="02020603050405020304" pitchFamily="18" charset="0"/>
                <a:cs typeface="Times New Roman" panose="02020603050405020304" pitchFamily="18" charset="0"/>
              </a:rPr>
              <a:t>X_scaled</a:t>
            </a:r>
            <a:r>
              <a:rPr lang="en-IN" b="0" dirty="0">
                <a:solidFill>
                  <a:srgbClr val="D4D4D4"/>
                </a:solidFill>
                <a:effectLst/>
                <a:latin typeface="Times New Roman" panose="02020603050405020304" pitchFamily="18" charset="0"/>
                <a:cs typeface="Times New Roman" panose="02020603050405020304" pitchFamily="18" charset="0"/>
              </a:rPr>
              <a:t> = </a:t>
            </a:r>
            <a:r>
              <a:rPr lang="en-IN" b="0" dirty="0" err="1">
                <a:solidFill>
                  <a:srgbClr val="D4D4D4"/>
                </a:solidFill>
                <a:effectLst/>
                <a:latin typeface="Times New Roman" panose="02020603050405020304" pitchFamily="18" charset="0"/>
                <a:cs typeface="Times New Roman" panose="02020603050405020304" pitchFamily="18" charset="0"/>
              </a:rPr>
              <a:t>scaler.fit_transform</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X</a:t>
            </a:r>
            <a:r>
              <a:rPr lang="en-IN" b="0" dirty="0">
                <a:solidFill>
                  <a:srgbClr val="DCDCDC"/>
                </a:solidFill>
                <a:effectLst/>
                <a:latin typeface="Times New Roman" panose="02020603050405020304" pitchFamily="18" charset="0"/>
                <a:cs typeface="Times New Roman" panose="02020603050405020304" pitchFamily="18" charset="0"/>
              </a:rPr>
              <a:t>)</a:t>
            </a:r>
            <a:br>
              <a:rPr lang="en-IN" b="0" dirty="0">
                <a:solidFill>
                  <a:srgbClr val="D4D4D4"/>
                </a:solidFill>
                <a:effectLst/>
                <a:latin typeface="Times New Roman" panose="02020603050405020304" pitchFamily="18" charset="0"/>
                <a:cs typeface="Times New Roman" panose="02020603050405020304" pitchFamily="18" charset="0"/>
              </a:rPr>
            </a:br>
            <a:r>
              <a:rPr lang="en-US" b="0" dirty="0" err="1">
                <a:solidFill>
                  <a:srgbClr val="D4D4D4"/>
                </a:solidFill>
                <a:effectLst/>
                <a:latin typeface="Times New Roman" panose="02020603050405020304" pitchFamily="18" charset="0"/>
                <a:cs typeface="Times New Roman" panose="02020603050405020304" pitchFamily="18" charset="0"/>
              </a:rPr>
              <a:t>X_train</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 </a:t>
            </a:r>
            <a:r>
              <a:rPr lang="en-US" b="0" dirty="0" err="1">
                <a:solidFill>
                  <a:srgbClr val="D4D4D4"/>
                </a:solidFill>
                <a:effectLst/>
                <a:latin typeface="Times New Roman" panose="02020603050405020304" pitchFamily="18" charset="0"/>
                <a:cs typeface="Times New Roman" panose="02020603050405020304" pitchFamily="18" charset="0"/>
              </a:rPr>
              <a:t>X_test</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 </a:t>
            </a:r>
            <a:r>
              <a:rPr lang="en-US" b="0" dirty="0" err="1">
                <a:solidFill>
                  <a:srgbClr val="D4D4D4"/>
                </a:solidFill>
                <a:effectLst/>
                <a:latin typeface="Times New Roman" panose="02020603050405020304" pitchFamily="18" charset="0"/>
                <a:cs typeface="Times New Roman" panose="02020603050405020304" pitchFamily="18" charset="0"/>
              </a:rPr>
              <a:t>y_train</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 </a:t>
            </a:r>
            <a:r>
              <a:rPr lang="en-US" b="0" dirty="0" err="1">
                <a:solidFill>
                  <a:srgbClr val="D4D4D4"/>
                </a:solidFill>
                <a:effectLst/>
                <a:latin typeface="Times New Roman" panose="02020603050405020304" pitchFamily="18" charset="0"/>
                <a:cs typeface="Times New Roman" panose="02020603050405020304" pitchFamily="18" charset="0"/>
              </a:rPr>
              <a:t>y_test</a:t>
            </a:r>
            <a:r>
              <a:rPr lang="en-US" b="0" dirty="0">
                <a:solidFill>
                  <a:srgbClr val="D4D4D4"/>
                </a:solidFill>
                <a:effectLst/>
                <a:latin typeface="Times New Roman" panose="02020603050405020304" pitchFamily="18" charset="0"/>
                <a:cs typeface="Times New Roman" panose="02020603050405020304" pitchFamily="18" charset="0"/>
              </a:rPr>
              <a:t> = </a:t>
            </a:r>
            <a:r>
              <a:rPr lang="en-US" b="0" dirty="0" err="1">
                <a:solidFill>
                  <a:srgbClr val="D4D4D4"/>
                </a:solidFill>
                <a:effectLst/>
                <a:latin typeface="Times New Roman" panose="02020603050405020304" pitchFamily="18" charset="0"/>
                <a:cs typeface="Times New Roman" panose="02020603050405020304" pitchFamily="18" charset="0"/>
              </a:rPr>
              <a:t>train_test_split</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err="1">
                <a:solidFill>
                  <a:srgbClr val="D4D4D4"/>
                </a:solidFill>
                <a:effectLst/>
                <a:latin typeface="Times New Roman" panose="02020603050405020304" pitchFamily="18" charset="0"/>
                <a:cs typeface="Times New Roman" panose="02020603050405020304" pitchFamily="18" charset="0"/>
              </a:rPr>
              <a:t>X_scaled</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 </a:t>
            </a:r>
            <a:r>
              <a:rPr lang="en-US" b="0" dirty="0" err="1">
                <a:solidFill>
                  <a:srgbClr val="D4D4D4"/>
                </a:solidFill>
                <a:effectLst/>
                <a:latin typeface="Times New Roman" panose="02020603050405020304" pitchFamily="18" charset="0"/>
                <a:cs typeface="Times New Roman" panose="02020603050405020304" pitchFamily="18" charset="0"/>
              </a:rPr>
              <a:t>y.values</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 </a:t>
            </a:r>
            <a:r>
              <a:rPr lang="en-US" b="0" dirty="0" err="1">
                <a:solidFill>
                  <a:srgbClr val="D4D4D4"/>
                </a:solidFill>
                <a:effectLst/>
                <a:latin typeface="Times New Roman" panose="02020603050405020304" pitchFamily="18" charset="0"/>
                <a:cs typeface="Times New Roman" panose="02020603050405020304" pitchFamily="18" charset="0"/>
              </a:rPr>
              <a:t>test_size</a:t>
            </a:r>
            <a:r>
              <a:rPr lang="en-US" b="0" dirty="0">
                <a:solidFill>
                  <a:srgbClr val="D4D4D4"/>
                </a:solidFill>
                <a:effectLst/>
                <a:latin typeface="Times New Roman" panose="02020603050405020304" pitchFamily="18" charset="0"/>
                <a:cs typeface="Times New Roman" panose="02020603050405020304" pitchFamily="18" charset="0"/>
              </a:rPr>
              <a:t>=</a:t>
            </a:r>
            <a:r>
              <a:rPr lang="en-US" b="0" dirty="0">
                <a:solidFill>
                  <a:srgbClr val="B5CEA8"/>
                </a:solidFill>
                <a:effectLst/>
                <a:latin typeface="Times New Roman" panose="02020603050405020304" pitchFamily="18" charset="0"/>
                <a:cs typeface="Times New Roman" panose="02020603050405020304" pitchFamily="18" charset="0"/>
              </a:rPr>
              <a:t>0.2</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 </a:t>
            </a:r>
            <a:r>
              <a:rPr lang="en-US" b="0" dirty="0" err="1">
                <a:solidFill>
                  <a:srgbClr val="D4D4D4"/>
                </a:solidFill>
                <a:effectLst/>
                <a:latin typeface="Times New Roman" panose="02020603050405020304" pitchFamily="18" charset="0"/>
                <a:cs typeface="Times New Roman" panose="02020603050405020304" pitchFamily="18" charset="0"/>
              </a:rPr>
              <a:t>random_state</a:t>
            </a:r>
            <a:r>
              <a:rPr lang="en-US" b="0" dirty="0">
                <a:solidFill>
                  <a:srgbClr val="D4D4D4"/>
                </a:solidFill>
                <a:effectLst/>
                <a:latin typeface="Times New Roman" panose="02020603050405020304" pitchFamily="18" charset="0"/>
                <a:cs typeface="Times New Roman" panose="02020603050405020304" pitchFamily="18" charset="0"/>
              </a:rPr>
              <a:t>=</a:t>
            </a:r>
            <a:r>
              <a:rPr lang="en-US" b="0" dirty="0">
                <a:solidFill>
                  <a:srgbClr val="B5CEA8"/>
                </a:solidFill>
                <a:effectLst/>
                <a:latin typeface="Times New Roman" panose="02020603050405020304" pitchFamily="18" charset="0"/>
                <a:cs typeface="Times New Roman" panose="02020603050405020304" pitchFamily="18" charset="0"/>
              </a:rPr>
              <a:t>42</a:t>
            </a:r>
            <a:r>
              <a:rPr lang="en-US" b="0" dirty="0">
                <a:solidFill>
                  <a:srgbClr val="DCDCDC"/>
                </a:solidFill>
                <a:effectLst/>
                <a:latin typeface="Times New Roman" panose="02020603050405020304" pitchFamily="18" charset="0"/>
                <a:cs typeface="Times New Roman" panose="02020603050405020304" pitchFamily="18" charset="0"/>
              </a:rPr>
              <a:t>)</a:t>
            </a:r>
            <a:endParaRPr lang="en-US" b="0" dirty="0">
              <a:solidFill>
                <a:srgbClr val="D4D4D4"/>
              </a:solidFill>
              <a:effectLst/>
              <a:latin typeface="Times New Roman" panose="02020603050405020304" pitchFamily="18" charset="0"/>
              <a:cs typeface="Times New Roman" panose="02020603050405020304" pitchFamily="18" charset="0"/>
            </a:endParaRPr>
          </a:p>
          <a:p>
            <a:r>
              <a:rPr lang="en-IN" b="0" dirty="0" err="1">
                <a:solidFill>
                  <a:srgbClr val="D4D4D4"/>
                </a:solidFill>
                <a:effectLst/>
                <a:latin typeface="Times New Roman" panose="02020603050405020304" pitchFamily="18" charset="0"/>
                <a:cs typeface="Times New Roman" panose="02020603050405020304" pitchFamily="18" charset="0"/>
              </a:rPr>
              <a:t>X_train_seq</a:t>
            </a:r>
            <a:r>
              <a:rPr lang="en-IN" b="0" dirty="0">
                <a:solidFill>
                  <a:srgbClr val="D4D4D4"/>
                </a:solidFill>
                <a:effectLst/>
                <a:latin typeface="Times New Roman" panose="02020603050405020304" pitchFamily="18" charset="0"/>
                <a:cs typeface="Times New Roman" panose="02020603050405020304" pitchFamily="18" charset="0"/>
              </a:rPr>
              <a:t> = </a:t>
            </a:r>
            <a:r>
              <a:rPr lang="en-IN" b="0" dirty="0" err="1">
                <a:solidFill>
                  <a:srgbClr val="D4D4D4"/>
                </a:solidFill>
                <a:effectLst/>
                <a:latin typeface="Times New Roman" panose="02020603050405020304" pitchFamily="18" charset="0"/>
                <a:cs typeface="Times New Roman" panose="02020603050405020304" pitchFamily="18" charset="0"/>
              </a:rPr>
              <a:t>X_train.reshape</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err="1">
                <a:solidFill>
                  <a:srgbClr val="D4D4D4"/>
                </a:solidFill>
                <a:effectLst/>
                <a:latin typeface="Times New Roman" panose="02020603050405020304" pitchFamily="18" charset="0"/>
                <a:cs typeface="Times New Roman" panose="02020603050405020304" pitchFamily="18" charset="0"/>
              </a:rPr>
              <a:t>X_train.shape</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B5CEA8"/>
                </a:solidFill>
                <a:effectLst/>
                <a:latin typeface="Times New Roman" panose="02020603050405020304" pitchFamily="18" charset="0"/>
                <a:cs typeface="Times New Roman" panose="02020603050405020304" pitchFamily="18" charset="0"/>
              </a:rPr>
              <a:t>0</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a:solidFill>
                  <a:srgbClr val="B5CEA8"/>
                </a:solidFill>
                <a:effectLst/>
                <a:latin typeface="Times New Roman" panose="02020603050405020304" pitchFamily="18" charset="0"/>
                <a:cs typeface="Times New Roman" panose="02020603050405020304" pitchFamily="18" charset="0"/>
              </a:rPr>
              <a:t>1</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X_train.shape</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B5CEA8"/>
                </a:solidFill>
                <a:effectLst/>
                <a:latin typeface="Times New Roman" panose="02020603050405020304" pitchFamily="18" charset="0"/>
                <a:cs typeface="Times New Roman" panose="02020603050405020304" pitchFamily="18" charset="0"/>
              </a:rPr>
              <a:t>1</a:t>
            </a:r>
            <a:r>
              <a:rPr lang="en-IN" b="0" dirty="0">
                <a:solidFill>
                  <a:srgbClr val="DCDCDC"/>
                </a:solidFill>
                <a:effectLst/>
                <a:latin typeface="Times New Roman" panose="02020603050405020304" pitchFamily="18" charset="0"/>
                <a:cs typeface="Times New Roman" panose="02020603050405020304" pitchFamily="18" charset="0"/>
              </a:rPr>
              <a:t>]))</a:t>
            </a:r>
            <a:endParaRPr lang="en-IN" dirty="0">
              <a:solidFill>
                <a:srgbClr val="D4D4D4"/>
              </a:solidFill>
              <a:latin typeface="Times New Roman" panose="02020603050405020304" pitchFamily="18" charset="0"/>
              <a:cs typeface="Times New Roman" panose="02020603050405020304" pitchFamily="18" charset="0"/>
            </a:endParaRPr>
          </a:p>
          <a:p>
            <a:r>
              <a:rPr lang="en-IN" b="0" dirty="0" err="1">
                <a:solidFill>
                  <a:srgbClr val="D4D4D4"/>
                </a:solidFill>
                <a:effectLst/>
                <a:latin typeface="Times New Roman" panose="02020603050405020304" pitchFamily="18" charset="0"/>
                <a:cs typeface="Times New Roman" panose="02020603050405020304" pitchFamily="18" charset="0"/>
              </a:rPr>
              <a:t>X_test_seq</a:t>
            </a:r>
            <a:r>
              <a:rPr lang="en-IN" b="0" dirty="0">
                <a:solidFill>
                  <a:srgbClr val="D4D4D4"/>
                </a:solidFill>
                <a:effectLst/>
                <a:latin typeface="Times New Roman" panose="02020603050405020304" pitchFamily="18" charset="0"/>
                <a:cs typeface="Times New Roman" panose="02020603050405020304" pitchFamily="18" charset="0"/>
              </a:rPr>
              <a:t> = </a:t>
            </a:r>
            <a:r>
              <a:rPr lang="en-IN" b="0" dirty="0" err="1">
                <a:solidFill>
                  <a:srgbClr val="D4D4D4"/>
                </a:solidFill>
                <a:effectLst/>
                <a:latin typeface="Times New Roman" panose="02020603050405020304" pitchFamily="18" charset="0"/>
                <a:cs typeface="Times New Roman" panose="02020603050405020304" pitchFamily="18" charset="0"/>
              </a:rPr>
              <a:t>X_test.reshape</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err="1">
                <a:solidFill>
                  <a:srgbClr val="D4D4D4"/>
                </a:solidFill>
                <a:effectLst/>
                <a:latin typeface="Times New Roman" panose="02020603050405020304" pitchFamily="18" charset="0"/>
                <a:cs typeface="Times New Roman" panose="02020603050405020304" pitchFamily="18" charset="0"/>
              </a:rPr>
              <a:t>X_test.shape</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B5CEA8"/>
                </a:solidFill>
                <a:effectLst/>
                <a:latin typeface="Times New Roman" panose="02020603050405020304" pitchFamily="18" charset="0"/>
                <a:cs typeface="Times New Roman" panose="02020603050405020304" pitchFamily="18" charset="0"/>
              </a:rPr>
              <a:t>0</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a:solidFill>
                  <a:srgbClr val="B5CEA8"/>
                </a:solidFill>
                <a:effectLst/>
                <a:latin typeface="Times New Roman" panose="02020603050405020304" pitchFamily="18" charset="0"/>
                <a:cs typeface="Times New Roman" panose="02020603050405020304" pitchFamily="18" charset="0"/>
              </a:rPr>
              <a:t>1</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X_test.shape</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B5CEA8"/>
                </a:solidFill>
                <a:effectLst/>
                <a:latin typeface="Times New Roman" panose="02020603050405020304" pitchFamily="18" charset="0"/>
                <a:cs typeface="Times New Roman" panose="02020603050405020304" pitchFamily="18" charset="0"/>
              </a:rPr>
              <a:t>1</a:t>
            </a:r>
            <a:r>
              <a:rPr lang="en-IN" b="0" dirty="0">
                <a:solidFill>
                  <a:srgbClr val="DCDCDC"/>
                </a:solidFill>
                <a:effectLst/>
                <a:latin typeface="Times New Roman" panose="02020603050405020304" pitchFamily="18" charset="0"/>
                <a:cs typeface="Times New Roman" panose="02020603050405020304" pitchFamily="18" charset="0"/>
              </a:rPr>
              <a:t>]))</a:t>
            </a:r>
          </a:p>
          <a:p>
            <a:endParaRPr lang="en-IN" b="0" dirty="0">
              <a:solidFill>
                <a:srgbClr val="D4D4D4"/>
              </a:solidFill>
              <a:effectLst/>
              <a:latin typeface="Times New Roman" panose="02020603050405020304" pitchFamily="18" charset="0"/>
              <a:cs typeface="Times New Roman" panose="02020603050405020304" pitchFamily="18" charset="0"/>
            </a:endParaRPr>
          </a:p>
          <a:p>
            <a:r>
              <a:rPr lang="en-IN" b="1" dirty="0">
                <a:effectLst/>
                <a:latin typeface="Times New Roman" panose="02020603050405020304" pitchFamily="18" charset="0"/>
                <a:cs typeface="Times New Roman" panose="02020603050405020304" pitchFamily="18" charset="0"/>
              </a:rPr>
              <a:t>Build GRU model:</a:t>
            </a:r>
          </a:p>
          <a:p>
            <a:r>
              <a:rPr lang="en-IN" b="0" dirty="0" err="1">
                <a:solidFill>
                  <a:srgbClr val="D4D4D4"/>
                </a:solidFill>
                <a:effectLst/>
                <a:latin typeface="Times New Roman" panose="02020603050405020304" pitchFamily="18" charset="0"/>
                <a:cs typeface="Times New Roman" panose="02020603050405020304" pitchFamily="18" charset="0"/>
              </a:rPr>
              <a:t>gru_model</a:t>
            </a:r>
            <a:r>
              <a:rPr lang="en-IN" b="0" dirty="0">
                <a:solidFill>
                  <a:srgbClr val="D4D4D4"/>
                </a:solidFill>
                <a:effectLst/>
                <a:latin typeface="Times New Roman" panose="02020603050405020304" pitchFamily="18" charset="0"/>
                <a:cs typeface="Times New Roman" panose="02020603050405020304" pitchFamily="18" charset="0"/>
              </a:rPr>
              <a:t> = Sequential</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Input</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shape=</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B5CEA8"/>
                </a:solidFill>
                <a:effectLst/>
                <a:latin typeface="Times New Roman" panose="02020603050405020304" pitchFamily="18" charset="0"/>
                <a:cs typeface="Times New Roman" panose="02020603050405020304" pitchFamily="18" charset="0"/>
              </a:rPr>
              <a:t>1</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X_train.shape</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B5CEA8"/>
                </a:solidFill>
                <a:effectLst/>
                <a:latin typeface="Times New Roman" panose="02020603050405020304" pitchFamily="18" charset="0"/>
                <a:cs typeface="Times New Roman" panose="02020603050405020304" pitchFamily="18" charset="0"/>
              </a:rPr>
              <a:t>1</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Bidirectional</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GRU</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B5CEA8"/>
                </a:solidFill>
                <a:effectLst/>
                <a:latin typeface="Times New Roman" panose="02020603050405020304" pitchFamily="18" charset="0"/>
                <a:cs typeface="Times New Roman" panose="02020603050405020304" pitchFamily="18" charset="0"/>
              </a:rPr>
              <a:t>256</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return_sequences</a:t>
            </a:r>
            <a:r>
              <a:rPr lang="en-IN" b="0" dirty="0">
                <a:solidFill>
                  <a:srgbClr val="D4D4D4"/>
                </a:solidFill>
                <a:effectLst/>
                <a:latin typeface="Times New Roman" panose="02020603050405020304" pitchFamily="18" charset="0"/>
                <a:cs typeface="Times New Roman" panose="02020603050405020304" pitchFamily="18" charset="0"/>
              </a:rPr>
              <a:t>=</a:t>
            </a:r>
            <a:r>
              <a:rPr lang="en-IN" b="0" dirty="0">
                <a:solidFill>
                  <a:srgbClr val="569CD6"/>
                </a:solidFill>
                <a:effectLst/>
                <a:latin typeface="Times New Roman" panose="02020603050405020304" pitchFamily="18" charset="0"/>
                <a:cs typeface="Times New Roman" panose="02020603050405020304" pitchFamily="18" charset="0"/>
              </a:rPr>
              <a:t>True</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Dropout</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B5CEA8"/>
                </a:solidFill>
                <a:effectLst/>
                <a:latin typeface="Times New Roman" panose="02020603050405020304" pitchFamily="18" charset="0"/>
                <a:cs typeface="Times New Roman" panose="02020603050405020304" pitchFamily="18" charset="0"/>
              </a:rPr>
              <a:t>0.3</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GRU</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B5CEA8"/>
                </a:solidFill>
                <a:effectLst/>
                <a:latin typeface="Times New Roman" panose="02020603050405020304" pitchFamily="18" charset="0"/>
                <a:cs typeface="Times New Roman" panose="02020603050405020304" pitchFamily="18" charset="0"/>
              </a:rPr>
              <a:t>128</a:t>
            </a:r>
            <a:r>
              <a:rPr lang="en-IN" b="0" dirty="0">
                <a:solidFill>
                  <a:srgbClr val="DCDCDC"/>
                </a:solidFill>
                <a:effectLst/>
                <a:latin typeface="Times New Roman" panose="02020603050405020304" pitchFamily="18" charset="0"/>
                <a:cs typeface="Times New Roman" panose="02020603050405020304" pitchFamily="18" charset="0"/>
              </a:rPr>
              <a:t>),</a:t>
            </a:r>
            <a:endParaRPr lang="en-IN" b="0" dirty="0">
              <a:solidFill>
                <a:srgbClr val="D4D4D4"/>
              </a:solidFill>
              <a:effectLst/>
              <a:latin typeface="Times New Roman" panose="02020603050405020304" pitchFamily="18" charset="0"/>
              <a:cs typeface="Times New Roman" panose="02020603050405020304" pitchFamily="18" charset="0"/>
            </a:endParaRPr>
          </a:p>
          <a:p>
            <a:r>
              <a:rPr lang="en-IN" b="0" dirty="0">
                <a:solidFill>
                  <a:srgbClr val="D4D4D4"/>
                </a:solidFill>
                <a:effectLst/>
                <a:latin typeface="Times New Roman" panose="02020603050405020304" pitchFamily="18" charset="0"/>
                <a:cs typeface="Times New Roman" panose="02020603050405020304" pitchFamily="18" charset="0"/>
              </a:rPr>
              <a:t>    Dense</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B5CEA8"/>
                </a:solidFill>
                <a:effectLst/>
                <a:latin typeface="Times New Roman" panose="02020603050405020304" pitchFamily="18" charset="0"/>
                <a:cs typeface="Times New Roman" panose="02020603050405020304" pitchFamily="18" charset="0"/>
              </a:rPr>
              <a:t>64</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activation=</a:t>
            </a:r>
            <a:r>
              <a:rPr lang="en-IN" b="0" dirty="0">
                <a:solidFill>
                  <a:srgbClr val="CE9178"/>
                </a:solidFill>
                <a:effectLst/>
                <a:latin typeface="Times New Roman" panose="02020603050405020304" pitchFamily="18" charset="0"/>
                <a:cs typeface="Times New Roman" panose="02020603050405020304" pitchFamily="18" charset="0"/>
              </a:rPr>
              <a:t>'</a:t>
            </a:r>
            <a:r>
              <a:rPr lang="en-IN" b="0" dirty="0" err="1">
                <a:solidFill>
                  <a:srgbClr val="CE9178"/>
                </a:solidFill>
                <a:effectLst/>
                <a:latin typeface="Times New Roman" panose="02020603050405020304" pitchFamily="18" charset="0"/>
                <a:cs typeface="Times New Roman" panose="02020603050405020304" pitchFamily="18" charset="0"/>
              </a:rPr>
              <a:t>relu</a:t>
            </a:r>
            <a:r>
              <a:rPr lang="en-IN" b="0" dirty="0">
                <a:solidFill>
                  <a:srgbClr val="CE9178"/>
                </a:solidFill>
                <a:effectLst/>
                <a:latin typeface="Times New Roman" panose="02020603050405020304" pitchFamily="18" charset="0"/>
                <a:cs typeface="Times New Roman" panose="02020603050405020304" pitchFamily="18" charset="0"/>
              </a:rPr>
              <a:t>'</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Dense</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B5CEA8"/>
                </a:solidFill>
                <a:effectLst/>
                <a:latin typeface="Times New Roman" panose="02020603050405020304" pitchFamily="18" charset="0"/>
                <a:cs typeface="Times New Roman" panose="02020603050405020304" pitchFamily="18" charset="0"/>
              </a:rPr>
              <a:t>1</a:t>
            </a:r>
            <a:r>
              <a:rPr lang="en-IN" b="0" dirty="0">
                <a:solidFill>
                  <a:srgbClr val="DCDCDC"/>
                </a:solidFill>
                <a:effectLst/>
                <a:latin typeface="Times New Roman" panose="02020603050405020304" pitchFamily="18" charset="0"/>
                <a:cs typeface="Times New Roman" panose="02020603050405020304" pitchFamily="18" charset="0"/>
              </a:rPr>
              <a:t>)])</a:t>
            </a:r>
            <a:endParaRPr lang="en-IN" b="0" dirty="0">
              <a:solidFill>
                <a:srgbClr val="D4D4D4"/>
              </a:solidFill>
              <a:effectLst/>
              <a:latin typeface="Times New Roman" panose="02020603050405020304" pitchFamily="18" charset="0"/>
              <a:cs typeface="Times New Roman" panose="02020603050405020304" pitchFamily="18" charset="0"/>
            </a:endParaRPr>
          </a:p>
          <a:p>
            <a:r>
              <a:rPr lang="en-IN" b="0" dirty="0" err="1">
                <a:solidFill>
                  <a:srgbClr val="D4D4D4"/>
                </a:solidFill>
                <a:effectLst/>
                <a:latin typeface="Times New Roman" panose="02020603050405020304" pitchFamily="18" charset="0"/>
                <a:cs typeface="Times New Roman" panose="02020603050405020304" pitchFamily="18" charset="0"/>
              </a:rPr>
              <a:t>gru_model.</a:t>
            </a:r>
            <a:r>
              <a:rPr lang="en-IN" b="0" dirty="0" err="1">
                <a:solidFill>
                  <a:srgbClr val="DCDCAA"/>
                </a:solidFill>
                <a:effectLst/>
                <a:latin typeface="Times New Roman" panose="02020603050405020304" pitchFamily="18" charset="0"/>
                <a:cs typeface="Times New Roman" panose="02020603050405020304" pitchFamily="18" charset="0"/>
              </a:rPr>
              <a:t>compile</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optimizer=</a:t>
            </a:r>
            <a:r>
              <a:rPr lang="en-IN" b="0" dirty="0">
                <a:solidFill>
                  <a:srgbClr val="CE9178"/>
                </a:solidFill>
                <a:effectLst/>
                <a:latin typeface="Times New Roman" panose="02020603050405020304" pitchFamily="18" charset="0"/>
                <a:cs typeface="Times New Roman" panose="02020603050405020304" pitchFamily="18" charset="0"/>
              </a:rPr>
              <a:t>'</a:t>
            </a:r>
            <a:r>
              <a:rPr lang="en-IN" b="0" dirty="0" err="1">
                <a:solidFill>
                  <a:srgbClr val="CE9178"/>
                </a:solidFill>
                <a:effectLst/>
                <a:latin typeface="Times New Roman" panose="02020603050405020304" pitchFamily="18" charset="0"/>
                <a:cs typeface="Times New Roman" panose="02020603050405020304" pitchFamily="18" charset="0"/>
              </a:rPr>
              <a:t>adam</a:t>
            </a:r>
            <a:r>
              <a:rPr lang="en-IN" b="0" dirty="0">
                <a:solidFill>
                  <a:srgbClr val="CE9178"/>
                </a:solidFill>
                <a:effectLst/>
                <a:latin typeface="Times New Roman" panose="02020603050405020304" pitchFamily="18" charset="0"/>
                <a:cs typeface="Times New Roman" panose="02020603050405020304" pitchFamily="18" charset="0"/>
              </a:rPr>
              <a:t>'</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loss=</a:t>
            </a:r>
            <a:r>
              <a:rPr lang="en-IN" b="0" dirty="0">
                <a:solidFill>
                  <a:srgbClr val="CE9178"/>
                </a:solidFill>
                <a:effectLst/>
                <a:latin typeface="Times New Roman" panose="02020603050405020304" pitchFamily="18" charset="0"/>
                <a:cs typeface="Times New Roman" panose="02020603050405020304" pitchFamily="18" charset="0"/>
              </a:rPr>
              <a:t>'</a:t>
            </a:r>
            <a:r>
              <a:rPr lang="en-IN" b="0" dirty="0" err="1">
                <a:solidFill>
                  <a:srgbClr val="CE9178"/>
                </a:solidFill>
                <a:effectLst/>
                <a:latin typeface="Times New Roman" panose="02020603050405020304" pitchFamily="18" charset="0"/>
                <a:cs typeface="Times New Roman" panose="02020603050405020304" pitchFamily="18" charset="0"/>
              </a:rPr>
              <a:t>mse</a:t>
            </a:r>
            <a:r>
              <a:rPr lang="en-IN" b="0" dirty="0">
                <a:solidFill>
                  <a:srgbClr val="CE9178"/>
                </a:solidFill>
                <a:effectLst/>
                <a:latin typeface="Times New Roman" panose="02020603050405020304" pitchFamily="18" charset="0"/>
                <a:cs typeface="Times New Roman" panose="02020603050405020304" pitchFamily="18" charset="0"/>
              </a:rPr>
              <a:t>'</a:t>
            </a:r>
            <a:r>
              <a:rPr lang="en-IN" b="0" dirty="0">
                <a:solidFill>
                  <a:srgbClr val="DCDCDC"/>
                </a:solidFill>
                <a:effectLst/>
                <a:latin typeface="Times New Roman" panose="02020603050405020304" pitchFamily="18" charset="0"/>
                <a:cs typeface="Times New Roman" panose="02020603050405020304" pitchFamily="18" charset="0"/>
              </a:rPr>
              <a:t>)</a:t>
            </a:r>
            <a:endParaRPr lang="en-IN" b="0" dirty="0">
              <a:solidFill>
                <a:srgbClr val="D4D4D4"/>
              </a:solidFill>
              <a:effectLst/>
              <a:latin typeface="Times New Roman" panose="02020603050405020304" pitchFamily="18" charset="0"/>
              <a:cs typeface="Times New Roman" panose="02020603050405020304" pitchFamily="18" charset="0"/>
            </a:endParaRPr>
          </a:p>
          <a:p>
            <a:r>
              <a:rPr lang="en-IN" b="0" dirty="0" err="1">
                <a:solidFill>
                  <a:srgbClr val="D4D4D4"/>
                </a:solidFill>
                <a:effectLst/>
                <a:latin typeface="Times New Roman" panose="02020603050405020304" pitchFamily="18" charset="0"/>
                <a:cs typeface="Times New Roman" panose="02020603050405020304" pitchFamily="18" charset="0"/>
              </a:rPr>
              <a:t>gru_model.fit</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err="1">
                <a:solidFill>
                  <a:srgbClr val="D4D4D4"/>
                </a:solidFill>
                <a:effectLst/>
                <a:latin typeface="Times New Roman" panose="02020603050405020304" pitchFamily="18" charset="0"/>
                <a:cs typeface="Times New Roman" panose="02020603050405020304" pitchFamily="18" charset="0"/>
              </a:rPr>
              <a:t>X_train_seq</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y_train</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validation_split</a:t>
            </a:r>
            <a:r>
              <a:rPr lang="en-IN" b="0" dirty="0">
                <a:solidFill>
                  <a:srgbClr val="D4D4D4"/>
                </a:solidFill>
                <a:effectLst/>
                <a:latin typeface="Times New Roman" panose="02020603050405020304" pitchFamily="18" charset="0"/>
                <a:cs typeface="Times New Roman" panose="02020603050405020304" pitchFamily="18" charset="0"/>
              </a:rPr>
              <a:t>=</a:t>
            </a:r>
            <a:r>
              <a:rPr lang="en-IN" b="0" dirty="0">
                <a:solidFill>
                  <a:srgbClr val="B5CEA8"/>
                </a:solidFill>
                <a:effectLst/>
                <a:latin typeface="Times New Roman" panose="02020603050405020304" pitchFamily="18" charset="0"/>
                <a:cs typeface="Times New Roman" panose="02020603050405020304" pitchFamily="18" charset="0"/>
              </a:rPr>
              <a:t>0.1</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epochs=</a:t>
            </a:r>
            <a:r>
              <a:rPr lang="en-IN" b="0" dirty="0">
                <a:solidFill>
                  <a:srgbClr val="B5CEA8"/>
                </a:solidFill>
                <a:effectLst/>
                <a:latin typeface="Times New Roman" panose="02020603050405020304" pitchFamily="18" charset="0"/>
                <a:cs typeface="Times New Roman" panose="02020603050405020304" pitchFamily="18" charset="0"/>
              </a:rPr>
              <a:t>300</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batch_size</a:t>
            </a:r>
            <a:r>
              <a:rPr lang="en-IN" b="0" dirty="0">
                <a:solidFill>
                  <a:srgbClr val="D4D4D4"/>
                </a:solidFill>
                <a:effectLst/>
                <a:latin typeface="Times New Roman" panose="02020603050405020304" pitchFamily="18" charset="0"/>
                <a:cs typeface="Times New Roman" panose="02020603050405020304" pitchFamily="18" charset="0"/>
              </a:rPr>
              <a:t>=</a:t>
            </a:r>
            <a:r>
              <a:rPr lang="en-IN" b="0" dirty="0">
                <a:solidFill>
                  <a:srgbClr val="B5CEA8"/>
                </a:solidFill>
                <a:effectLst/>
                <a:latin typeface="Times New Roman" panose="02020603050405020304" pitchFamily="18" charset="0"/>
                <a:cs typeface="Times New Roman" panose="02020603050405020304" pitchFamily="18" charset="0"/>
              </a:rPr>
              <a:t>32</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verbose=</a:t>
            </a:r>
            <a:r>
              <a:rPr lang="en-IN" b="0" dirty="0">
                <a:solidFill>
                  <a:srgbClr val="B5CEA8"/>
                </a:solidFill>
                <a:effectLst/>
                <a:latin typeface="Times New Roman" panose="02020603050405020304" pitchFamily="18" charset="0"/>
                <a:cs typeface="Times New Roman" panose="02020603050405020304" pitchFamily="18" charset="0"/>
              </a:rPr>
              <a:t>0</a:t>
            </a:r>
            <a:r>
              <a:rPr lang="en-IN" b="0" dirty="0">
                <a:solidFill>
                  <a:srgbClr val="DCDCDC"/>
                </a:solidFill>
                <a:effectLst/>
                <a:latin typeface="Times New Roman" panose="02020603050405020304" pitchFamily="18" charset="0"/>
                <a:cs typeface="Times New Roman" panose="02020603050405020304" pitchFamily="18" charset="0"/>
              </a:rPr>
              <a:t>)</a:t>
            </a:r>
            <a:endParaRPr lang="en-IN" b="0" dirty="0">
              <a:solidFill>
                <a:srgbClr val="D4D4D4"/>
              </a:solidFill>
              <a:effectLst/>
              <a:latin typeface="Times New Roman" panose="02020603050405020304" pitchFamily="18" charset="0"/>
              <a:cs typeface="Times New Roman" panose="02020603050405020304" pitchFamily="18" charset="0"/>
            </a:endParaRPr>
          </a:p>
          <a:p>
            <a:r>
              <a:rPr lang="en-IN" b="0" dirty="0" err="1">
                <a:solidFill>
                  <a:srgbClr val="D4D4D4"/>
                </a:solidFill>
                <a:effectLst/>
                <a:latin typeface="Times New Roman" panose="02020603050405020304" pitchFamily="18" charset="0"/>
                <a:cs typeface="Times New Roman" panose="02020603050405020304" pitchFamily="18" charset="0"/>
              </a:rPr>
              <a:t>y_gru_pred</a:t>
            </a:r>
            <a:r>
              <a:rPr lang="en-IN" b="0" dirty="0">
                <a:solidFill>
                  <a:srgbClr val="D4D4D4"/>
                </a:solidFill>
                <a:effectLst/>
                <a:latin typeface="Times New Roman" panose="02020603050405020304" pitchFamily="18" charset="0"/>
                <a:cs typeface="Times New Roman" panose="02020603050405020304" pitchFamily="18" charset="0"/>
              </a:rPr>
              <a:t> = </a:t>
            </a:r>
            <a:r>
              <a:rPr lang="en-IN" b="0" dirty="0" err="1">
                <a:solidFill>
                  <a:srgbClr val="D4D4D4"/>
                </a:solidFill>
                <a:effectLst/>
                <a:latin typeface="Times New Roman" panose="02020603050405020304" pitchFamily="18" charset="0"/>
                <a:cs typeface="Times New Roman" panose="02020603050405020304" pitchFamily="18" charset="0"/>
              </a:rPr>
              <a:t>gru_model.predict</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err="1">
                <a:solidFill>
                  <a:srgbClr val="D4D4D4"/>
                </a:solidFill>
                <a:effectLst/>
                <a:latin typeface="Times New Roman" panose="02020603050405020304" pitchFamily="18" charset="0"/>
                <a:cs typeface="Times New Roman" panose="02020603050405020304" pitchFamily="18" charset="0"/>
              </a:rPr>
              <a:t>X_test_seq</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verbose=</a:t>
            </a:r>
            <a:r>
              <a:rPr lang="en-IN" b="0" dirty="0">
                <a:solidFill>
                  <a:srgbClr val="B5CEA8"/>
                </a:solidFill>
                <a:effectLst/>
                <a:latin typeface="Times New Roman" panose="02020603050405020304" pitchFamily="18" charset="0"/>
                <a:cs typeface="Times New Roman" panose="02020603050405020304" pitchFamily="18" charset="0"/>
              </a:rPr>
              <a:t>0</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.flatten</a:t>
            </a:r>
            <a:r>
              <a:rPr lang="en-IN" b="0" dirty="0">
                <a:solidFill>
                  <a:srgbClr val="DCDCDC"/>
                </a:solidFill>
                <a:effectLst/>
                <a:latin typeface="Times New Roman" panose="02020603050405020304" pitchFamily="18" charset="0"/>
                <a:cs typeface="Times New Roman" panose="02020603050405020304" pitchFamily="18" charset="0"/>
              </a:rPr>
              <a:t>()</a:t>
            </a:r>
            <a:endParaRPr lang="en-IN" b="0" dirty="0">
              <a:solidFill>
                <a:srgbClr val="D4D4D4"/>
              </a:solidFill>
              <a:effectLst/>
              <a:latin typeface="Times New Roman" panose="02020603050405020304" pitchFamily="18" charset="0"/>
              <a:cs typeface="Times New Roman" panose="02020603050405020304" pitchFamily="18" charset="0"/>
            </a:endParaRPr>
          </a:p>
        </p:txBody>
      </p:sp>
      <p:sp>
        <p:nvSpPr>
          <p:cNvPr id="4" name="object 3">
            <a:extLst>
              <a:ext uri="{FF2B5EF4-FFF2-40B4-BE49-F238E27FC236}">
                <a16:creationId xmlns:a16="http://schemas.microsoft.com/office/drawing/2014/main" id="{6EDBE30A-F302-4307-BAAB-14E6EFAFAD37}"/>
              </a:ext>
            </a:extLst>
          </p:cNvPr>
          <p:cNvSpPr txBox="1"/>
          <p:nvPr/>
        </p:nvSpPr>
        <p:spPr>
          <a:xfrm>
            <a:off x="6133262" y="979468"/>
            <a:ext cx="6096000" cy="5878532"/>
          </a:xfrm>
          <a:prstGeom prst="rect">
            <a:avLst/>
          </a:prstGeom>
        </p:spPr>
        <p:txBody>
          <a:bodyPr vert="horz" wrap="square" lIns="0" tIns="60960" rIns="0" bIns="0" rtlCol="0">
            <a:spAutoFit/>
          </a:bodyPr>
          <a:lstStyle/>
          <a:p>
            <a:r>
              <a:rPr lang="en-US" b="1" dirty="0">
                <a:effectLst/>
                <a:latin typeface="Times New Roman" panose="02020603050405020304" pitchFamily="18" charset="0"/>
                <a:cs typeface="Times New Roman" panose="02020603050405020304" pitchFamily="18" charset="0"/>
              </a:rPr>
              <a:t>XGBoost Model:</a:t>
            </a:r>
          </a:p>
          <a:p>
            <a:r>
              <a:rPr lang="en-IN" b="0" dirty="0" err="1">
                <a:solidFill>
                  <a:srgbClr val="D4D4D4"/>
                </a:solidFill>
                <a:effectLst/>
                <a:latin typeface="Times New Roman" panose="02020603050405020304" pitchFamily="18" charset="0"/>
                <a:cs typeface="Times New Roman" panose="02020603050405020304" pitchFamily="18" charset="0"/>
              </a:rPr>
              <a:t>xgb_model</a:t>
            </a:r>
            <a:r>
              <a:rPr lang="en-IN" b="0" dirty="0">
                <a:solidFill>
                  <a:srgbClr val="D4D4D4"/>
                </a:solidFill>
                <a:effectLst/>
                <a:latin typeface="Times New Roman" panose="02020603050405020304" pitchFamily="18" charset="0"/>
                <a:cs typeface="Times New Roman" panose="02020603050405020304" pitchFamily="18" charset="0"/>
              </a:rPr>
              <a:t> = </a:t>
            </a:r>
            <a:r>
              <a:rPr lang="en-IN" b="0" dirty="0" err="1">
                <a:solidFill>
                  <a:srgbClr val="D4D4D4"/>
                </a:solidFill>
                <a:effectLst/>
                <a:latin typeface="Times New Roman" panose="02020603050405020304" pitchFamily="18" charset="0"/>
                <a:cs typeface="Times New Roman" panose="02020603050405020304" pitchFamily="18" charset="0"/>
              </a:rPr>
              <a:t>XGBRegressor</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err="1">
                <a:solidFill>
                  <a:srgbClr val="D4D4D4"/>
                </a:solidFill>
                <a:effectLst/>
                <a:latin typeface="Times New Roman" panose="02020603050405020304" pitchFamily="18" charset="0"/>
                <a:cs typeface="Times New Roman" panose="02020603050405020304" pitchFamily="18" charset="0"/>
              </a:rPr>
              <a:t>n_estimators</a:t>
            </a:r>
            <a:r>
              <a:rPr lang="en-IN" b="0" dirty="0">
                <a:solidFill>
                  <a:srgbClr val="D4D4D4"/>
                </a:solidFill>
                <a:effectLst/>
                <a:latin typeface="Times New Roman" panose="02020603050405020304" pitchFamily="18" charset="0"/>
                <a:cs typeface="Times New Roman" panose="02020603050405020304" pitchFamily="18" charset="0"/>
              </a:rPr>
              <a:t>=</a:t>
            </a:r>
            <a:r>
              <a:rPr lang="en-IN" b="0" dirty="0">
                <a:solidFill>
                  <a:srgbClr val="B5CEA8"/>
                </a:solidFill>
                <a:effectLst/>
                <a:latin typeface="Times New Roman" panose="02020603050405020304" pitchFamily="18" charset="0"/>
                <a:cs typeface="Times New Roman" panose="02020603050405020304" pitchFamily="18" charset="0"/>
              </a:rPr>
              <a:t>200</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learning_rate</a:t>
            </a:r>
            <a:r>
              <a:rPr lang="en-IN" b="0" dirty="0">
                <a:solidFill>
                  <a:srgbClr val="D4D4D4"/>
                </a:solidFill>
                <a:effectLst/>
                <a:latin typeface="Times New Roman" panose="02020603050405020304" pitchFamily="18" charset="0"/>
                <a:cs typeface="Times New Roman" panose="02020603050405020304" pitchFamily="18" charset="0"/>
              </a:rPr>
              <a:t>=</a:t>
            </a:r>
            <a:r>
              <a:rPr lang="en-IN" b="0" dirty="0">
                <a:solidFill>
                  <a:srgbClr val="B5CEA8"/>
                </a:solidFill>
                <a:effectLst/>
                <a:latin typeface="Times New Roman" panose="02020603050405020304" pitchFamily="18" charset="0"/>
                <a:cs typeface="Times New Roman" panose="02020603050405020304" pitchFamily="18" charset="0"/>
              </a:rPr>
              <a:t>0.05</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max_depth</a:t>
            </a:r>
            <a:r>
              <a:rPr lang="en-IN" b="0" dirty="0">
                <a:solidFill>
                  <a:srgbClr val="D4D4D4"/>
                </a:solidFill>
                <a:effectLst/>
                <a:latin typeface="Times New Roman" panose="02020603050405020304" pitchFamily="18" charset="0"/>
                <a:cs typeface="Times New Roman" panose="02020603050405020304" pitchFamily="18" charset="0"/>
              </a:rPr>
              <a:t>=</a:t>
            </a:r>
            <a:r>
              <a:rPr lang="en-IN" b="0" dirty="0">
                <a:solidFill>
                  <a:srgbClr val="B5CEA8"/>
                </a:solidFill>
                <a:effectLst/>
                <a:latin typeface="Times New Roman" panose="02020603050405020304" pitchFamily="18" charset="0"/>
                <a:cs typeface="Times New Roman" panose="02020603050405020304" pitchFamily="18" charset="0"/>
              </a:rPr>
              <a:t>6</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random_state</a:t>
            </a:r>
            <a:r>
              <a:rPr lang="en-IN" b="0" dirty="0">
                <a:solidFill>
                  <a:srgbClr val="D4D4D4"/>
                </a:solidFill>
                <a:effectLst/>
                <a:latin typeface="Times New Roman" panose="02020603050405020304" pitchFamily="18" charset="0"/>
                <a:cs typeface="Times New Roman" panose="02020603050405020304" pitchFamily="18" charset="0"/>
              </a:rPr>
              <a:t>=</a:t>
            </a:r>
            <a:r>
              <a:rPr lang="en-IN" b="0" dirty="0">
                <a:solidFill>
                  <a:srgbClr val="B5CEA8"/>
                </a:solidFill>
                <a:effectLst/>
                <a:latin typeface="Times New Roman" panose="02020603050405020304" pitchFamily="18" charset="0"/>
                <a:cs typeface="Times New Roman" panose="02020603050405020304" pitchFamily="18" charset="0"/>
              </a:rPr>
              <a:t>42</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verbosity=</a:t>
            </a:r>
            <a:r>
              <a:rPr lang="en-IN" b="0" dirty="0">
                <a:solidFill>
                  <a:srgbClr val="B5CEA8"/>
                </a:solidFill>
                <a:effectLst/>
                <a:latin typeface="Times New Roman" panose="02020603050405020304" pitchFamily="18" charset="0"/>
                <a:cs typeface="Times New Roman" panose="02020603050405020304" pitchFamily="18" charset="0"/>
              </a:rPr>
              <a:t>0</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.fit</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err="1">
                <a:solidFill>
                  <a:srgbClr val="D4D4D4"/>
                </a:solidFill>
                <a:effectLst/>
                <a:latin typeface="Times New Roman" panose="02020603050405020304" pitchFamily="18" charset="0"/>
                <a:cs typeface="Times New Roman" panose="02020603050405020304" pitchFamily="18" charset="0"/>
              </a:rPr>
              <a:t>X_train</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y_train</a:t>
            </a:r>
            <a:r>
              <a:rPr lang="en-IN" b="0" dirty="0">
                <a:solidFill>
                  <a:srgbClr val="DCDCDC"/>
                </a:solidFill>
                <a:effectLst/>
                <a:latin typeface="Times New Roman" panose="02020603050405020304" pitchFamily="18" charset="0"/>
                <a:cs typeface="Times New Roman" panose="02020603050405020304" pitchFamily="18" charset="0"/>
              </a:rPr>
              <a:t>)</a:t>
            </a:r>
            <a:endParaRPr lang="en-IN" b="0" dirty="0">
              <a:solidFill>
                <a:srgbClr val="D4D4D4"/>
              </a:solidFill>
              <a:effectLst/>
              <a:latin typeface="Times New Roman" panose="02020603050405020304" pitchFamily="18" charset="0"/>
              <a:cs typeface="Times New Roman" panose="02020603050405020304" pitchFamily="18" charset="0"/>
            </a:endParaRPr>
          </a:p>
          <a:p>
            <a:r>
              <a:rPr lang="en-IN" b="0" dirty="0" err="1">
                <a:solidFill>
                  <a:srgbClr val="D4D4D4"/>
                </a:solidFill>
                <a:effectLst/>
                <a:latin typeface="Times New Roman" panose="02020603050405020304" pitchFamily="18" charset="0"/>
                <a:cs typeface="Times New Roman" panose="02020603050405020304" pitchFamily="18" charset="0"/>
              </a:rPr>
              <a:t>y_xgb_pred</a:t>
            </a:r>
            <a:r>
              <a:rPr lang="en-IN" b="0" dirty="0">
                <a:solidFill>
                  <a:srgbClr val="D4D4D4"/>
                </a:solidFill>
                <a:effectLst/>
                <a:latin typeface="Times New Roman" panose="02020603050405020304" pitchFamily="18" charset="0"/>
                <a:cs typeface="Times New Roman" panose="02020603050405020304" pitchFamily="18" charset="0"/>
              </a:rPr>
              <a:t> = </a:t>
            </a:r>
            <a:r>
              <a:rPr lang="en-IN" b="0" dirty="0" err="1">
                <a:solidFill>
                  <a:srgbClr val="D4D4D4"/>
                </a:solidFill>
                <a:effectLst/>
                <a:latin typeface="Times New Roman" panose="02020603050405020304" pitchFamily="18" charset="0"/>
                <a:cs typeface="Times New Roman" panose="02020603050405020304" pitchFamily="18" charset="0"/>
              </a:rPr>
              <a:t>xgb_model.predict</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err="1">
                <a:solidFill>
                  <a:srgbClr val="D4D4D4"/>
                </a:solidFill>
                <a:effectLst/>
                <a:latin typeface="Times New Roman" panose="02020603050405020304" pitchFamily="18" charset="0"/>
                <a:cs typeface="Times New Roman" panose="02020603050405020304" pitchFamily="18" charset="0"/>
              </a:rPr>
              <a:t>X_test</a:t>
            </a:r>
            <a:r>
              <a:rPr lang="en-IN" b="0" dirty="0">
                <a:solidFill>
                  <a:srgbClr val="DCDCDC"/>
                </a:solidFill>
                <a:effectLst/>
                <a:latin typeface="Times New Roman" panose="02020603050405020304" pitchFamily="18" charset="0"/>
                <a:cs typeface="Times New Roman" panose="02020603050405020304" pitchFamily="18" charset="0"/>
              </a:rPr>
              <a:t>)</a:t>
            </a:r>
            <a:endParaRPr lang="en-IN" b="0" dirty="0">
              <a:solidFill>
                <a:srgbClr val="D4D4D4"/>
              </a:solidFill>
              <a:effectLst/>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Build Meta-CatBoost Model and CatBoost Regressor:</a:t>
            </a:r>
          </a:p>
          <a:p>
            <a:r>
              <a:rPr lang="en-US" b="0" dirty="0">
                <a:solidFill>
                  <a:srgbClr val="C99CC6"/>
                </a:solidFill>
                <a:effectLst/>
                <a:latin typeface="Times New Roman" panose="02020603050405020304" pitchFamily="18" charset="0"/>
                <a:cs typeface="Times New Roman" panose="02020603050405020304" pitchFamily="18" charset="0"/>
              </a:rPr>
              <a:t>from</a:t>
            </a:r>
            <a:r>
              <a:rPr lang="en-US" b="0" dirty="0">
                <a:solidFill>
                  <a:srgbClr val="D4D4D4"/>
                </a:solidFill>
                <a:effectLst/>
                <a:latin typeface="Times New Roman" panose="02020603050405020304" pitchFamily="18" charset="0"/>
                <a:cs typeface="Times New Roman" panose="02020603050405020304" pitchFamily="18" charset="0"/>
              </a:rPr>
              <a:t> </a:t>
            </a:r>
            <a:r>
              <a:rPr lang="en-US" b="0" dirty="0" err="1">
                <a:solidFill>
                  <a:srgbClr val="D4D4D4"/>
                </a:solidFill>
                <a:effectLst/>
                <a:latin typeface="Times New Roman" panose="02020603050405020304" pitchFamily="18" charset="0"/>
                <a:cs typeface="Times New Roman" panose="02020603050405020304" pitchFamily="18" charset="0"/>
              </a:rPr>
              <a:t>catboost</a:t>
            </a:r>
            <a:r>
              <a:rPr lang="en-US" b="0" dirty="0">
                <a:solidFill>
                  <a:srgbClr val="D4D4D4"/>
                </a:solidFill>
                <a:effectLst/>
                <a:latin typeface="Times New Roman" panose="02020603050405020304" pitchFamily="18" charset="0"/>
                <a:cs typeface="Times New Roman" panose="02020603050405020304" pitchFamily="18" charset="0"/>
              </a:rPr>
              <a:t> </a:t>
            </a:r>
            <a:r>
              <a:rPr lang="en-US" b="0" dirty="0">
                <a:solidFill>
                  <a:srgbClr val="C99CC6"/>
                </a:solidFill>
                <a:effectLst/>
                <a:latin typeface="Times New Roman" panose="02020603050405020304" pitchFamily="18" charset="0"/>
                <a:cs typeface="Times New Roman" panose="02020603050405020304" pitchFamily="18" charset="0"/>
              </a:rPr>
              <a:t>import</a:t>
            </a:r>
            <a:r>
              <a:rPr lang="en-US" b="0" dirty="0">
                <a:solidFill>
                  <a:srgbClr val="D4D4D4"/>
                </a:solidFill>
                <a:effectLst/>
                <a:latin typeface="Times New Roman" panose="02020603050405020304" pitchFamily="18" charset="0"/>
                <a:cs typeface="Times New Roman" panose="02020603050405020304" pitchFamily="18" charset="0"/>
              </a:rPr>
              <a:t> </a:t>
            </a:r>
            <a:r>
              <a:rPr lang="en-US" b="0" dirty="0" err="1">
                <a:solidFill>
                  <a:srgbClr val="D4D4D4"/>
                </a:solidFill>
                <a:effectLst/>
                <a:latin typeface="Times New Roman" panose="02020603050405020304" pitchFamily="18" charset="0"/>
                <a:cs typeface="Times New Roman" panose="02020603050405020304" pitchFamily="18" charset="0"/>
              </a:rPr>
              <a:t>CatBoostRegressor</a:t>
            </a:r>
            <a:endParaRPr lang="en-US" b="0" dirty="0">
              <a:solidFill>
                <a:srgbClr val="D4D4D4"/>
              </a:solidFill>
              <a:effectLst/>
              <a:latin typeface="Times New Roman" panose="02020603050405020304" pitchFamily="18" charset="0"/>
              <a:cs typeface="Times New Roman" panose="02020603050405020304" pitchFamily="18" charset="0"/>
            </a:endParaRPr>
          </a:p>
          <a:p>
            <a:r>
              <a:rPr lang="en-US" b="0" dirty="0" err="1">
                <a:solidFill>
                  <a:srgbClr val="D4D4D4"/>
                </a:solidFill>
                <a:effectLst/>
                <a:latin typeface="Times New Roman" panose="02020603050405020304" pitchFamily="18" charset="0"/>
                <a:cs typeface="Times New Roman" panose="02020603050405020304" pitchFamily="18" charset="0"/>
              </a:rPr>
              <a:t>stack_X</a:t>
            </a:r>
            <a:r>
              <a:rPr lang="en-US" b="0" dirty="0">
                <a:solidFill>
                  <a:srgbClr val="D4D4D4"/>
                </a:solidFill>
                <a:effectLst/>
                <a:latin typeface="Times New Roman" panose="02020603050405020304" pitchFamily="18" charset="0"/>
                <a:cs typeface="Times New Roman" panose="02020603050405020304" pitchFamily="18" charset="0"/>
              </a:rPr>
              <a:t> = </a:t>
            </a:r>
            <a:r>
              <a:rPr lang="en-US" b="0" dirty="0" err="1">
                <a:solidFill>
                  <a:srgbClr val="D4D4D4"/>
                </a:solidFill>
                <a:effectLst/>
                <a:latin typeface="Times New Roman" panose="02020603050405020304" pitchFamily="18" charset="0"/>
                <a:cs typeface="Times New Roman" panose="02020603050405020304" pitchFamily="18" charset="0"/>
              </a:rPr>
              <a:t>np.vstack</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err="1">
                <a:solidFill>
                  <a:srgbClr val="D4D4D4"/>
                </a:solidFill>
                <a:effectLst/>
                <a:latin typeface="Times New Roman" panose="02020603050405020304" pitchFamily="18" charset="0"/>
                <a:cs typeface="Times New Roman" panose="02020603050405020304" pitchFamily="18" charset="0"/>
              </a:rPr>
              <a:t>y_gru_pred</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 </a:t>
            </a:r>
            <a:r>
              <a:rPr lang="en-US" b="0" dirty="0" err="1">
                <a:solidFill>
                  <a:srgbClr val="D4D4D4"/>
                </a:solidFill>
                <a:effectLst/>
                <a:latin typeface="Times New Roman" panose="02020603050405020304" pitchFamily="18" charset="0"/>
                <a:cs typeface="Times New Roman" panose="02020603050405020304" pitchFamily="18" charset="0"/>
              </a:rPr>
              <a:t>y_xgb_pred</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 </a:t>
            </a:r>
            <a:r>
              <a:rPr lang="en-US" b="0" dirty="0" err="1">
                <a:solidFill>
                  <a:srgbClr val="D4D4D4"/>
                </a:solidFill>
                <a:effectLst/>
                <a:latin typeface="Times New Roman" panose="02020603050405020304" pitchFamily="18" charset="0"/>
                <a:cs typeface="Times New Roman" panose="02020603050405020304" pitchFamily="18" charset="0"/>
              </a:rPr>
              <a:t>y_trans_pred</a:t>
            </a:r>
            <a:r>
              <a:rPr lang="en-US" b="0" dirty="0" err="1">
                <a:solidFill>
                  <a:srgbClr val="DCDCDC"/>
                </a:solidFill>
                <a:effectLst/>
                <a:latin typeface="Times New Roman" panose="02020603050405020304" pitchFamily="18" charset="0"/>
                <a:cs typeface="Times New Roman" panose="02020603050405020304" pitchFamily="18" charset="0"/>
              </a:rPr>
              <a:t>,</a:t>
            </a:r>
            <a:r>
              <a:rPr lang="en-US" b="0" dirty="0" err="1">
                <a:solidFill>
                  <a:srgbClr val="D4D4D4"/>
                </a:solidFill>
                <a:effectLst/>
                <a:latin typeface="Times New Roman" panose="02020603050405020304" pitchFamily="18" charset="0"/>
                <a:cs typeface="Times New Roman" panose="02020603050405020304" pitchFamily="18" charset="0"/>
              </a:rPr>
              <a:t>y_lgb_pred</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.T</a:t>
            </a:r>
          </a:p>
          <a:p>
            <a:r>
              <a:rPr lang="en-US" b="0" dirty="0" err="1">
                <a:solidFill>
                  <a:srgbClr val="D4D4D4"/>
                </a:solidFill>
                <a:effectLst/>
                <a:latin typeface="Times New Roman" panose="02020603050405020304" pitchFamily="18" charset="0"/>
                <a:cs typeface="Times New Roman" panose="02020603050405020304" pitchFamily="18" charset="0"/>
              </a:rPr>
              <a:t>stack_Y</a:t>
            </a:r>
            <a:r>
              <a:rPr lang="en-US" b="0" dirty="0">
                <a:solidFill>
                  <a:srgbClr val="D4D4D4"/>
                </a:solidFill>
                <a:effectLst/>
                <a:latin typeface="Times New Roman" panose="02020603050405020304" pitchFamily="18" charset="0"/>
                <a:cs typeface="Times New Roman" panose="02020603050405020304" pitchFamily="18" charset="0"/>
              </a:rPr>
              <a:t> = </a:t>
            </a:r>
            <a:r>
              <a:rPr lang="en-US" b="0" dirty="0" err="1">
                <a:solidFill>
                  <a:srgbClr val="D4D4D4"/>
                </a:solidFill>
                <a:effectLst/>
                <a:latin typeface="Times New Roman" panose="02020603050405020304" pitchFamily="18" charset="0"/>
                <a:cs typeface="Times New Roman" panose="02020603050405020304" pitchFamily="18" charset="0"/>
              </a:rPr>
              <a:t>np.vstack</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y_gru_pred1</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 y_xgb_pred1</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 y_trans_pred1</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y_gru_pred1</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.T</a:t>
            </a:r>
            <a:br>
              <a:rPr lang="en-IN" b="0" dirty="0">
                <a:solidFill>
                  <a:srgbClr val="D4D4D4"/>
                </a:solidFill>
                <a:effectLst/>
                <a:latin typeface="Times New Roman" panose="02020603050405020304" pitchFamily="18" charset="0"/>
                <a:cs typeface="Times New Roman" panose="02020603050405020304" pitchFamily="18" charset="0"/>
              </a:rPr>
            </a:br>
            <a:r>
              <a:rPr lang="en-IN" b="0" dirty="0" err="1">
                <a:solidFill>
                  <a:srgbClr val="D4D4D4"/>
                </a:solidFill>
                <a:effectLst/>
                <a:latin typeface="Times New Roman" panose="02020603050405020304" pitchFamily="18" charset="0"/>
                <a:cs typeface="Times New Roman" panose="02020603050405020304" pitchFamily="18" charset="0"/>
              </a:rPr>
              <a:t>meta_cat</a:t>
            </a:r>
            <a:r>
              <a:rPr lang="en-IN" b="0" dirty="0">
                <a:solidFill>
                  <a:srgbClr val="D4D4D4"/>
                </a:solidFill>
                <a:effectLst/>
                <a:latin typeface="Times New Roman" panose="02020603050405020304" pitchFamily="18" charset="0"/>
                <a:cs typeface="Times New Roman" panose="02020603050405020304" pitchFamily="18" charset="0"/>
              </a:rPr>
              <a:t> = </a:t>
            </a:r>
            <a:r>
              <a:rPr lang="en-IN" b="0" dirty="0" err="1">
                <a:solidFill>
                  <a:srgbClr val="D4D4D4"/>
                </a:solidFill>
                <a:effectLst/>
                <a:latin typeface="Times New Roman" panose="02020603050405020304" pitchFamily="18" charset="0"/>
                <a:cs typeface="Times New Roman" panose="02020603050405020304" pitchFamily="18" charset="0"/>
              </a:rPr>
              <a:t>CatBoostRegressor</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iterations=</a:t>
            </a:r>
            <a:r>
              <a:rPr lang="en-IN" b="0" dirty="0">
                <a:solidFill>
                  <a:srgbClr val="B5CEA8"/>
                </a:solidFill>
                <a:effectLst/>
                <a:latin typeface="Times New Roman" panose="02020603050405020304" pitchFamily="18" charset="0"/>
                <a:cs typeface="Times New Roman" panose="02020603050405020304" pitchFamily="18" charset="0"/>
              </a:rPr>
              <a:t>500</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Learn </a:t>
            </a:r>
            <a:r>
              <a:rPr lang="en-IN" b="0" dirty="0" err="1">
                <a:solidFill>
                  <a:srgbClr val="D4D4D4"/>
                </a:solidFill>
                <a:effectLst/>
                <a:latin typeface="Times New Roman" panose="02020603050405020304" pitchFamily="18" charset="0"/>
                <a:cs typeface="Times New Roman" panose="02020603050405020304" pitchFamily="18" charset="0"/>
              </a:rPr>
              <a:t>ing_rate</a:t>
            </a:r>
            <a:r>
              <a:rPr lang="en-IN" b="0" dirty="0">
                <a:solidFill>
                  <a:srgbClr val="D4D4D4"/>
                </a:solidFill>
                <a:effectLst/>
                <a:latin typeface="Times New Roman" panose="02020603050405020304" pitchFamily="18" charset="0"/>
                <a:cs typeface="Times New Roman" panose="02020603050405020304" pitchFamily="18" charset="0"/>
              </a:rPr>
              <a:t>=</a:t>
            </a:r>
            <a:r>
              <a:rPr lang="en-IN" b="0" dirty="0">
                <a:solidFill>
                  <a:srgbClr val="B5CEA8"/>
                </a:solidFill>
                <a:effectLst/>
                <a:latin typeface="Times New Roman" panose="02020603050405020304" pitchFamily="18" charset="0"/>
                <a:cs typeface="Times New Roman" panose="02020603050405020304" pitchFamily="18" charset="0"/>
              </a:rPr>
              <a:t>0.03</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depth=</a:t>
            </a:r>
            <a:r>
              <a:rPr lang="en-IN" b="0" dirty="0">
                <a:solidFill>
                  <a:srgbClr val="B5CEA8"/>
                </a:solidFill>
                <a:effectLst/>
                <a:latin typeface="Times New Roman" panose="02020603050405020304" pitchFamily="18" charset="0"/>
                <a:cs typeface="Times New Roman" panose="02020603050405020304" pitchFamily="18" charset="0"/>
              </a:rPr>
              <a:t>6</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verbose=</a:t>
            </a:r>
            <a:r>
              <a:rPr lang="en-IN" b="0" dirty="0">
                <a:solidFill>
                  <a:srgbClr val="B5CEA8"/>
                </a:solidFill>
                <a:effectLst/>
                <a:latin typeface="Times New Roman" panose="02020603050405020304" pitchFamily="18" charset="0"/>
                <a:cs typeface="Times New Roman" panose="02020603050405020304" pitchFamily="18" charset="0"/>
              </a:rPr>
              <a:t>0</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random_seed=</a:t>
            </a:r>
            <a:r>
              <a:rPr lang="en-IN" b="0" dirty="0">
                <a:solidFill>
                  <a:srgbClr val="B5CEA8"/>
                </a:solidFill>
                <a:effectLst/>
                <a:latin typeface="Times New Roman" panose="02020603050405020304" pitchFamily="18" charset="0"/>
                <a:cs typeface="Times New Roman" panose="02020603050405020304" pitchFamily="18" charset="0"/>
              </a:rPr>
              <a:t>42</a:t>
            </a:r>
            <a:r>
              <a:rPr lang="en-IN" b="0" dirty="0">
                <a:solidFill>
                  <a:srgbClr val="DCDCDC"/>
                </a:solidFill>
                <a:effectLst/>
                <a:latin typeface="Times New Roman" panose="02020603050405020304" pitchFamily="18" charset="0"/>
                <a:cs typeface="Times New Roman" panose="02020603050405020304" pitchFamily="18" charset="0"/>
              </a:rPr>
              <a:t>)</a:t>
            </a:r>
            <a:endParaRPr lang="en-IN" b="0" dirty="0">
              <a:solidFill>
                <a:srgbClr val="D4D4D4"/>
              </a:solidFill>
              <a:effectLst/>
              <a:latin typeface="Times New Roman" panose="02020603050405020304" pitchFamily="18" charset="0"/>
              <a:cs typeface="Times New Roman" panose="02020603050405020304" pitchFamily="18" charset="0"/>
            </a:endParaRPr>
          </a:p>
          <a:p>
            <a:r>
              <a:rPr lang="en-IN" b="0" dirty="0" err="1">
                <a:solidFill>
                  <a:srgbClr val="D4D4D4"/>
                </a:solidFill>
                <a:effectLst/>
                <a:latin typeface="Times New Roman" panose="02020603050405020304" pitchFamily="18" charset="0"/>
                <a:cs typeface="Times New Roman" panose="02020603050405020304" pitchFamily="18" charset="0"/>
              </a:rPr>
              <a:t>meta_cat.fit</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err="1">
                <a:solidFill>
                  <a:srgbClr val="D4D4D4"/>
                </a:solidFill>
                <a:effectLst/>
                <a:latin typeface="Times New Roman" panose="02020603050405020304" pitchFamily="18" charset="0"/>
                <a:cs typeface="Times New Roman" panose="02020603050405020304" pitchFamily="18" charset="0"/>
              </a:rPr>
              <a:t>stack_X</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a:solidFill>
                  <a:srgbClr val="D4D4D4"/>
                </a:solidFill>
                <a:effectLst/>
                <a:latin typeface="Times New Roman" panose="02020603050405020304" pitchFamily="18" charset="0"/>
                <a:cs typeface="Times New Roman" panose="02020603050405020304" pitchFamily="18" charset="0"/>
              </a:rPr>
              <a:t> </a:t>
            </a:r>
            <a:r>
              <a:rPr lang="en-IN" b="0" dirty="0" err="1">
                <a:solidFill>
                  <a:srgbClr val="D4D4D4"/>
                </a:solidFill>
                <a:effectLst/>
                <a:latin typeface="Times New Roman" panose="02020603050405020304" pitchFamily="18" charset="0"/>
                <a:cs typeface="Times New Roman" panose="02020603050405020304" pitchFamily="18" charset="0"/>
              </a:rPr>
              <a:t>y_test</a:t>
            </a:r>
            <a:r>
              <a:rPr lang="en-IN" b="0" dirty="0">
                <a:solidFill>
                  <a:srgbClr val="DCDCDC"/>
                </a:solidFill>
                <a:effectLst/>
                <a:latin typeface="Times New Roman" panose="02020603050405020304" pitchFamily="18" charset="0"/>
                <a:cs typeface="Times New Roman" panose="02020603050405020304" pitchFamily="18" charset="0"/>
              </a:rPr>
              <a:t>)</a:t>
            </a:r>
            <a:endParaRPr lang="en-IN" b="0" dirty="0">
              <a:solidFill>
                <a:srgbClr val="D4D4D4"/>
              </a:solidFill>
              <a:effectLst/>
              <a:latin typeface="Times New Roman" panose="02020603050405020304" pitchFamily="18" charset="0"/>
              <a:cs typeface="Times New Roman" panose="02020603050405020304" pitchFamily="18" charset="0"/>
            </a:endParaRPr>
          </a:p>
          <a:p>
            <a:r>
              <a:rPr lang="en-IN" b="0" dirty="0" err="1">
                <a:solidFill>
                  <a:srgbClr val="D4D4D4"/>
                </a:solidFill>
                <a:effectLst/>
                <a:latin typeface="Times New Roman" panose="02020603050405020304" pitchFamily="18" charset="0"/>
                <a:cs typeface="Times New Roman" panose="02020603050405020304" pitchFamily="18" charset="0"/>
              </a:rPr>
              <a:t>y_meta_cat_pred</a:t>
            </a:r>
            <a:r>
              <a:rPr lang="en-IN" b="0" dirty="0">
                <a:solidFill>
                  <a:srgbClr val="D4D4D4"/>
                </a:solidFill>
                <a:effectLst/>
                <a:latin typeface="Times New Roman" panose="02020603050405020304" pitchFamily="18" charset="0"/>
                <a:cs typeface="Times New Roman" panose="02020603050405020304" pitchFamily="18" charset="0"/>
              </a:rPr>
              <a:t> = </a:t>
            </a:r>
            <a:r>
              <a:rPr lang="en-IN" b="0" dirty="0" err="1">
                <a:solidFill>
                  <a:srgbClr val="D4D4D4"/>
                </a:solidFill>
                <a:effectLst/>
                <a:latin typeface="Times New Roman" panose="02020603050405020304" pitchFamily="18" charset="0"/>
                <a:cs typeface="Times New Roman" panose="02020603050405020304" pitchFamily="18" charset="0"/>
              </a:rPr>
              <a:t>meta_cat.predict</a:t>
            </a:r>
            <a:r>
              <a:rPr lang="en-IN" b="0" dirty="0">
                <a:solidFill>
                  <a:srgbClr val="DCDCDC"/>
                </a:solidFill>
                <a:effectLst/>
                <a:latin typeface="Times New Roman" panose="02020603050405020304" pitchFamily="18" charset="0"/>
                <a:cs typeface="Times New Roman" panose="02020603050405020304" pitchFamily="18" charset="0"/>
              </a:rPr>
              <a:t>(</a:t>
            </a:r>
            <a:r>
              <a:rPr lang="en-IN" b="0" dirty="0" err="1">
                <a:solidFill>
                  <a:srgbClr val="D4D4D4"/>
                </a:solidFill>
                <a:effectLst/>
                <a:latin typeface="Times New Roman" panose="02020603050405020304" pitchFamily="18" charset="0"/>
                <a:cs typeface="Times New Roman" panose="02020603050405020304" pitchFamily="18" charset="0"/>
              </a:rPr>
              <a:t>stack_X</a:t>
            </a:r>
            <a:r>
              <a:rPr lang="en-IN" b="0" dirty="0">
                <a:solidFill>
                  <a:srgbClr val="DCDCDC"/>
                </a:solidFill>
                <a:effectLst/>
                <a:latin typeface="Times New Roman" panose="02020603050405020304" pitchFamily="18" charset="0"/>
                <a:cs typeface="Times New Roman" panose="02020603050405020304" pitchFamily="18" charset="0"/>
              </a:rPr>
              <a:t>)</a:t>
            </a:r>
            <a:endParaRPr lang="en-IN" b="0" dirty="0">
              <a:solidFill>
                <a:srgbClr val="D4D4D4"/>
              </a:solidFill>
              <a:effectLst/>
              <a:latin typeface="Times New Roman" panose="02020603050405020304" pitchFamily="18" charset="0"/>
              <a:cs typeface="Times New Roman" panose="02020603050405020304" pitchFamily="18" charset="0"/>
            </a:endParaRPr>
          </a:p>
          <a:p>
            <a:r>
              <a:rPr lang="en-IN" dirty="0">
                <a:effectLst/>
                <a:latin typeface="Times New Roman" panose="02020603050405020304" pitchFamily="18" charset="0"/>
                <a:cs typeface="Times New Roman" panose="02020603050405020304" pitchFamily="18" charset="0"/>
              </a:rPr>
              <a:t>Evaluation </a:t>
            </a:r>
            <a:r>
              <a:rPr lang="en-IN">
                <a:effectLst/>
                <a:latin typeface="Times New Roman" panose="02020603050405020304" pitchFamily="18" charset="0"/>
                <a:cs typeface="Times New Roman" panose="02020603050405020304" pitchFamily="18" charset="0"/>
              </a:rPr>
              <a:t>Metrics:</a:t>
            </a:r>
            <a:endParaRPr lang="en-IN" dirty="0">
              <a:effectLst/>
              <a:latin typeface="Times New Roman" panose="02020603050405020304" pitchFamily="18" charset="0"/>
              <a:cs typeface="Times New Roman" panose="02020603050405020304" pitchFamily="18" charset="0"/>
            </a:endParaRPr>
          </a:p>
          <a:p>
            <a:r>
              <a:rPr lang="en-US" b="0" dirty="0">
                <a:solidFill>
                  <a:srgbClr val="DCDCAA"/>
                </a:solidFill>
                <a:effectLst/>
                <a:latin typeface="Times New Roman" panose="02020603050405020304" pitchFamily="18" charset="0"/>
                <a:cs typeface="Times New Roman" panose="02020603050405020304" pitchFamily="18" charset="0"/>
              </a:rPr>
              <a:t>print</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err="1">
                <a:solidFill>
                  <a:srgbClr val="69A5D7"/>
                </a:solidFill>
                <a:effectLst/>
                <a:latin typeface="Times New Roman" panose="02020603050405020304" pitchFamily="18" charset="0"/>
                <a:cs typeface="Times New Roman" panose="02020603050405020304" pitchFamily="18" charset="0"/>
              </a:rPr>
              <a:t>f</a:t>
            </a:r>
            <a:r>
              <a:rPr lang="en-US" b="0" dirty="0" err="1">
                <a:solidFill>
                  <a:srgbClr val="CE9178"/>
                </a:solidFill>
                <a:effectLst/>
                <a:latin typeface="Times New Roman" panose="02020603050405020304" pitchFamily="18" charset="0"/>
                <a:cs typeface="Times New Roman" panose="02020603050405020304" pitchFamily="18" charset="0"/>
              </a:rPr>
              <a:t>"R</a:t>
            </a:r>
            <a:r>
              <a:rPr lang="en-US" b="0" dirty="0">
                <a:solidFill>
                  <a:srgbClr val="CE9178"/>
                </a:solidFill>
                <a:effectLst/>
                <a:latin typeface="Times New Roman" panose="02020603050405020304" pitchFamily="18" charset="0"/>
                <a:cs typeface="Times New Roman" panose="02020603050405020304" pitchFamily="18" charset="0"/>
              </a:rPr>
              <a:t>:</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r2_score</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y_test</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y_meta_cat_pred</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B5CEA8"/>
                </a:solidFill>
                <a:effectLst/>
                <a:latin typeface="Times New Roman" panose="02020603050405020304" pitchFamily="18" charset="0"/>
                <a:cs typeface="Times New Roman" panose="02020603050405020304" pitchFamily="18" charset="0"/>
              </a:rPr>
              <a:t>:.4f</a:t>
            </a:r>
            <a:r>
              <a:rPr lang="en-US" b="0" dirty="0">
                <a:solidFill>
                  <a:srgbClr val="DCDCDC"/>
                </a:solidFill>
                <a:effectLst/>
                <a:latin typeface="Times New Roman" panose="02020603050405020304" pitchFamily="18" charset="0"/>
                <a:cs typeface="Times New Roman" panose="02020603050405020304" pitchFamily="18" charset="0"/>
              </a:rPr>
              <a:t>})</a:t>
            </a:r>
            <a:endParaRPr lang="en-US" b="0" dirty="0">
              <a:solidFill>
                <a:srgbClr val="D4D4D4"/>
              </a:solidFill>
              <a:effectLst/>
              <a:latin typeface="Times New Roman" panose="02020603050405020304" pitchFamily="18" charset="0"/>
              <a:cs typeface="Times New Roman" panose="02020603050405020304" pitchFamily="18" charset="0"/>
            </a:endParaRPr>
          </a:p>
          <a:p>
            <a:r>
              <a:rPr lang="en-US" b="0" dirty="0">
                <a:solidFill>
                  <a:srgbClr val="DCDCAA"/>
                </a:solidFill>
                <a:effectLst/>
                <a:latin typeface="Times New Roman" panose="02020603050405020304" pitchFamily="18" charset="0"/>
                <a:cs typeface="Times New Roman" panose="02020603050405020304" pitchFamily="18" charset="0"/>
              </a:rPr>
              <a:t>print</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err="1">
                <a:solidFill>
                  <a:srgbClr val="69A5D7"/>
                </a:solidFill>
                <a:effectLst/>
                <a:latin typeface="Times New Roman" panose="02020603050405020304" pitchFamily="18" charset="0"/>
                <a:cs typeface="Times New Roman" panose="02020603050405020304" pitchFamily="18" charset="0"/>
              </a:rPr>
              <a:t>f</a:t>
            </a:r>
            <a:r>
              <a:rPr lang="en-US" b="0" dirty="0" err="1">
                <a:solidFill>
                  <a:srgbClr val="CE9178"/>
                </a:solidFill>
                <a:effectLst/>
                <a:latin typeface="Times New Roman" panose="02020603050405020304" pitchFamily="18" charset="0"/>
                <a:cs typeface="Times New Roman" panose="02020603050405020304" pitchFamily="18" charset="0"/>
              </a:rPr>
              <a:t>"RMSE</a:t>
            </a:r>
            <a:r>
              <a:rPr lang="en-US" b="0" dirty="0">
                <a:solidFill>
                  <a:srgbClr val="CE9178"/>
                </a:solidFill>
                <a:effectLst/>
                <a:latin typeface="Times New Roman" panose="02020603050405020304" pitchFamily="18" charset="0"/>
                <a:cs typeface="Times New Roman" panose="02020603050405020304" pitchFamily="18" charset="0"/>
              </a:rPr>
              <a:t>: </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err="1">
                <a:solidFill>
                  <a:srgbClr val="D4D4D4"/>
                </a:solidFill>
                <a:effectLst/>
                <a:latin typeface="Times New Roman" panose="02020603050405020304" pitchFamily="18" charset="0"/>
                <a:cs typeface="Times New Roman" panose="02020603050405020304" pitchFamily="18" charset="0"/>
              </a:rPr>
              <a:t>np.sqrt</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err="1">
                <a:solidFill>
                  <a:srgbClr val="D4D4D4"/>
                </a:solidFill>
                <a:effectLst/>
                <a:latin typeface="Times New Roman" panose="02020603050405020304" pitchFamily="18" charset="0"/>
                <a:cs typeface="Times New Roman" panose="02020603050405020304" pitchFamily="18" charset="0"/>
              </a:rPr>
              <a:t>mean_squared_error</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err="1">
                <a:solidFill>
                  <a:srgbClr val="D4D4D4"/>
                </a:solidFill>
                <a:effectLst/>
                <a:latin typeface="Times New Roman" panose="02020603050405020304" pitchFamily="18" charset="0"/>
                <a:cs typeface="Times New Roman" panose="02020603050405020304" pitchFamily="18" charset="0"/>
              </a:rPr>
              <a:t>y_test</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 </a:t>
            </a:r>
            <a:r>
              <a:rPr lang="en-US" b="0" dirty="0" err="1">
                <a:solidFill>
                  <a:srgbClr val="D4D4D4"/>
                </a:solidFill>
                <a:effectLst/>
                <a:latin typeface="Times New Roman" panose="02020603050405020304" pitchFamily="18" charset="0"/>
                <a:cs typeface="Times New Roman" panose="02020603050405020304" pitchFamily="18" charset="0"/>
              </a:rPr>
              <a:t>y_meta_cat_pred</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B5CEA8"/>
                </a:solidFill>
                <a:effectLst/>
                <a:latin typeface="Times New Roman" panose="02020603050405020304" pitchFamily="18" charset="0"/>
                <a:cs typeface="Times New Roman" panose="02020603050405020304" pitchFamily="18" charset="0"/>
              </a:rPr>
              <a:t>:.2f</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CE9178"/>
                </a:solidFill>
                <a:effectLst/>
                <a:latin typeface="Times New Roman" panose="02020603050405020304" pitchFamily="18" charset="0"/>
                <a:cs typeface="Times New Roman" panose="02020603050405020304" pitchFamily="18" charset="0"/>
              </a:rPr>
              <a:t>"</a:t>
            </a:r>
            <a:r>
              <a:rPr lang="en-US" b="0" dirty="0">
                <a:solidFill>
                  <a:srgbClr val="DCDCDC"/>
                </a:solidFill>
                <a:effectLst/>
                <a:latin typeface="Times New Roman" panose="02020603050405020304" pitchFamily="18" charset="0"/>
                <a:cs typeface="Times New Roman" panose="02020603050405020304" pitchFamily="18" charset="0"/>
              </a:rPr>
              <a:t>)</a:t>
            </a:r>
            <a:endParaRPr lang="en-US" b="0" dirty="0">
              <a:solidFill>
                <a:srgbClr val="D4D4D4"/>
              </a:solidFill>
              <a:effectLst/>
              <a:latin typeface="Times New Roman" panose="02020603050405020304" pitchFamily="18" charset="0"/>
              <a:cs typeface="Times New Roman" panose="02020603050405020304" pitchFamily="18" charset="0"/>
            </a:endParaRPr>
          </a:p>
          <a:p>
            <a:r>
              <a:rPr lang="en-US" b="0" dirty="0">
                <a:solidFill>
                  <a:srgbClr val="DCDCAA"/>
                </a:solidFill>
                <a:effectLst/>
                <a:latin typeface="Times New Roman" panose="02020603050405020304" pitchFamily="18" charset="0"/>
                <a:cs typeface="Times New Roman" panose="02020603050405020304" pitchFamily="18" charset="0"/>
              </a:rPr>
              <a:t>print</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err="1">
                <a:solidFill>
                  <a:srgbClr val="69A5D7"/>
                </a:solidFill>
                <a:effectLst/>
                <a:latin typeface="Times New Roman" panose="02020603050405020304" pitchFamily="18" charset="0"/>
                <a:cs typeface="Times New Roman" panose="02020603050405020304" pitchFamily="18" charset="0"/>
              </a:rPr>
              <a:t>f</a:t>
            </a:r>
            <a:r>
              <a:rPr lang="en-US" b="0" dirty="0" err="1">
                <a:solidFill>
                  <a:srgbClr val="CE9178"/>
                </a:solidFill>
                <a:effectLst/>
                <a:latin typeface="Times New Roman" panose="02020603050405020304" pitchFamily="18" charset="0"/>
                <a:cs typeface="Times New Roman" panose="02020603050405020304" pitchFamily="18" charset="0"/>
              </a:rPr>
              <a:t>"MAE</a:t>
            </a:r>
            <a:r>
              <a:rPr lang="en-US" dirty="0">
                <a:solidFill>
                  <a:srgbClr val="CE9178"/>
                </a:solidFill>
                <a:latin typeface="Times New Roman" panose="02020603050405020304" pitchFamily="18" charset="0"/>
                <a:cs typeface="Times New Roman" panose="02020603050405020304" pitchFamily="18" charset="0"/>
              </a:rPr>
              <a:t>:</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err="1">
                <a:solidFill>
                  <a:srgbClr val="D4D4D4"/>
                </a:solidFill>
                <a:effectLst/>
                <a:latin typeface="Times New Roman" panose="02020603050405020304" pitchFamily="18" charset="0"/>
                <a:cs typeface="Times New Roman" panose="02020603050405020304" pitchFamily="18" charset="0"/>
              </a:rPr>
              <a:t>mean_absolute_e</a:t>
            </a:r>
            <a:r>
              <a:rPr lang="en-US" dirty="0">
                <a:solidFill>
                  <a:srgbClr val="D4D4D4"/>
                </a:solidFill>
                <a:latin typeface="Times New Roman" panose="02020603050405020304" pitchFamily="18" charset="0"/>
                <a:cs typeface="Times New Roman" panose="02020603050405020304" pitchFamily="18" charset="0"/>
              </a:rPr>
              <a:t>(</a:t>
            </a:r>
            <a:r>
              <a:rPr lang="en-US" b="0" dirty="0">
                <a:solidFill>
                  <a:srgbClr val="D4D4D4"/>
                </a:solidFill>
                <a:effectLst/>
                <a:latin typeface="Times New Roman" panose="02020603050405020304" pitchFamily="18" charset="0"/>
                <a:cs typeface="Times New Roman" panose="02020603050405020304" pitchFamily="18" charset="0"/>
              </a:rPr>
              <a:t> </a:t>
            </a:r>
            <a:r>
              <a:rPr lang="en-US" b="0" dirty="0" err="1">
                <a:solidFill>
                  <a:srgbClr val="D4D4D4"/>
                </a:solidFill>
                <a:effectLst/>
                <a:latin typeface="Times New Roman" panose="02020603050405020304" pitchFamily="18" charset="0"/>
                <a:cs typeface="Times New Roman" panose="02020603050405020304" pitchFamily="18" charset="0"/>
              </a:rPr>
              <a:t>y_meta_cat_pred</a:t>
            </a:r>
            <a:r>
              <a:rPr lang="en-US" b="0" dirty="0">
                <a:solidFill>
                  <a:srgbClr val="DCDCDC"/>
                </a:solidFill>
                <a:effectLst/>
                <a:latin typeface="Times New Roman" panose="02020603050405020304" pitchFamily="18" charset="0"/>
                <a:cs typeface="Times New Roman" panose="02020603050405020304" pitchFamily="18" charset="0"/>
              </a:rPr>
              <a:t>)}</a:t>
            </a:r>
            <a:r>
              <a:rPr lang="en-US" b="0" dirty="0">
                <a:solidFill>
                  <a:srgbClr val="CE9178"/>
                </a:solidFill>
                <a:effectLst/>
                <a:latin typeface="Times New Roman" panose="02020603050405020304" pitchFamily="18" charset="0"/>
                <a:cs typeface="Times New Roman" panose="02020603050405020304" pitchFamily="18" charset="0"/>
              </a:rPr>
              <a:t>"</a:t>
            </a:r>
            <a:r>
              <a:rPr lang="en-US" b="0" dirty="0">
                <a:solidFill>
                  <a:srgbClr val="DCDCDC"/>
                </a:solidFill>
                <a:effectLst/>
                <a:latin typeface="Times New Roman" panose="02020603050405020304" pitchFamily="18" charset="0"/>
                <a:cs typeface="Times New Roman" panose="02020603050405020304" pitchFamily="18" charset="0"/>
              </a:rPr>
              <a:t>)</a:t>
            </a:r>
            <a:endParaRPr lang="en-US" b="0" dirty="0">
              <a:solidFill>
                <a:srgbClr val="D4D4D4"/>
              </a:solidFill>
              <a:effectLst/>
              <a:latin typeface="Times New Roman" panose="02020603050405020304" pitchFamily="18" charset="0"/>
              <a:cs typeface="Times New Roman" panose="02020603050405020304" pitchFamily="18" charset="0"/>
            </a:endParaRPr>
          </a:p>
          <a:p>
            <a:endParaRPr lang="en-IN" dirty="0">
              <a:effectLst/>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2B8B8F5A-2DD7-440C-853C-4910E976C462}"/>
              </a:ext>
            </a:extLst>
          </p:cNvPr>
          <p:cNvSpPr>
            <a:spLocks noGrp="1"/>
          </p:cNvSpPr>
          <p:nvPr>
            <p:ph type="dt" sz="half" idx="6"/>
          </p:nvPr>
        </p:nvSpPr>
        <p:spPr>
          <a:xfrm>
            <a:off x="880999" y="6548203"/>
            <a:ext cx="749935" cy="194309"/>
          </a:xfrm>
        </p:spPr>
        <p:txBody>
          <a:bodyPr/>
          <a:lstStyle/>
          <a:p>
            <a:pPr marL="12700">
              <a:lnSpc>
                <a:spcPts val="1410"/>
              </a:lnSpc>
            </a:pPr>
            <a:r>
              <a:rPr lang="en-US" spc="5"/>
              <a:t>10-11-2025</a:t>
            </a:r>
            <a:endParaRPr lang="en-IN" spc="5" dirty="0"/>
          </a:p>
        </p:txBody>
      </p:sp>
      <p:sp>
        <p:nvSpPr>
          <p:cNvPr id="6" name="Footer Placeholder 5">
            <a:extLst>
              <a:ext uri="{FF2B5EF4-FFF2-40B4-BE49-F238E27FC236}">
                <a16:creationId xmlns:a16="http://schemas.microsoft.com/office/drawing/2014/main" id="{41F4366A-BBF1-457F-90F1-92FC80AE9901}"/>
              </a:ext>
            </a:extLst>
          </p:cNvPr>
          <p:cNvSpPr>
            <a:spLocks noGrp="1"/>
          </p:cNvSpPr>
          <p:nvPr>
            <p:ph type="ftr" sz="quarter" idx="5"/>
          </p:nvPr>
        </p:nvSpPr>
        <p:spPr>
          <a:xfrm>
            <a:off x="6473466" y="6548202"/>
            <a:ext cx="1242059" cy="194309"/>
          </a:xfrm>
        </p:spPr>
        <p:txBody>
          <a:bodyPr/>
          <a:lstStyle/>
          <a:p>
            <a:pPr marL="12700">
              <a:lnSpc>
                <a:spcPts val="1410"/>
              </a:lnSpc>
            </a:pPr>
            <a:r>
              <a:rPr lang="en-IN" spc="-35" dirty="0"/>
              <a:t>Department</a:t>
            </a:r>
            <a:r>
              <a:rPr lang="en-IN" spc="295" dirty="0"/>
              <a:t> </a:t>
            </a:r>
            <a:r>
              <a:rPr lang="en-IN" dirty="0"/>
              <a:t>of</a:t>
            </a:r>
            <a:r>
              <a:rPr lang="en-IN" spc="25" dirty="0"/>
              <a:t> </a:t>
            </a:r>
            <a:r>
              <a:rPr lang="en-IN" spc="5" dirty="0"/>
              <a:t>CSE</a:t>
            </a:r>
          </a:p>
        </p:txBody>
      </p:sp>
      <p:sp>
        <p:nvSpPr>
          <p:cNvPr id="7" name="Slide Number Placeholder 6">
            <a:extLst>
              <a:ext uri="{FF2B5EF4-FFF2-40B4-BE49-F238E27FC236}">
                <a16:creationId xmlns:a16="http://schemas.microsoft.com/office/drawing/2014/main" id="{49310201-5627-4E46-AA83-A12DE0A0FA29}"/>
              </a:ext>
            </a:extLst>
          </p:cNvPr>
          <p:cNvSpPr>
            <a:spLocks noGrp="1"/>
          </p:cNvSpPr>
          <p:nvPr>
            <p:ph type="sldNum" sz="quarter" idx="7"/>
          </p:nvPr>
        </p:nvSpPr>
        <p:spPr>
          <a:xfrm>
            <a:off x="11084758" y="6547661"/>
            <a:ext cx="228600" cy="194309"/>
          </a:xfrm>
        </p:spPr>
        <p:txBody>
          <a:bodyPr/>
          <a:lstStyle/>
          <a:p>
            <a:pPr marL="38100">
              <a:lnSpc>
                <a:spcPts val="1410"/>
              </a:lnSpc>
            </a:pPr>
            <a:fld id="{81D60167-4931-47E6-BA6A-407CBD079E47}" type="slidenum">
              <a:rPr lang="en-IN" smtClean="0"/>
              <a:t>12</a:t>
            </a:fld>
            <a:endParaRPr lang="en-IN" dirty="0"/>
          </a:p>
        </p:txBody>
      </p:sp>
      <p:sp>
        <p:nvSpPr>
          <p:cNvPr id="8" name="object 5">
            <a:extLst>
              <a:ext uri="{FF2B5EF4-FFF2-40B4-BE49-F238E27FC236}">
                <a16:creationId xmlns:a16="http://schemas.microsoft.com/office/drawing/2014/main" id="{8FC43751-E345-4BEB-BDC5-1D845F69BD21}"/>
              </a:ext>
            </a:extLst>
          </p:cNvPr>
          <p:cNvSpPr txBox="1"/>
          <p:nvPr/>
        </p:nvSpPr>
        <p:spPr>
          <a:xfrm>
            <a:off x="4648200" y="6551628"/>
            <a:ext cx="91732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Tree>
    <p:extLst>
      <p:ext uri="{BB962C8B-B14F-4D97-AF65-F5344CB8AC3E}">
        <p14:creationId xmlns:p14="http://schemas.microsoft.com/office/powerpoint/2010/main" val="4069165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9AE5CC-2DB8-418D-9386-C5C308D8D6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876300"/>
            <a:ext cx="10439400" cy="5295900"/>
          </a:xfrm>
          <a:prstGeom prst="rect">
            <a:avLst/>
          </a:prstGeom>
        </p:spPr>
      </p:pic>
    </p:spTree>
    <p:extLst>
      <p:ext uri="{BB962C8B-B14F-4D97-AF65-F5344CB8AC3E}">
        <p14:creationId xmlns:p14="http://schemas.microsoft.com/office/powerpoint/2010/main" val="723179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6BA8C8E-03AB-4464-A919-24B850BE1B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914400"/>
            <a:ext cx="10058400" cy="5181600"/>
          </a:xfrm>
          <a:prstGeom prst="rect">
            <a:avLst/>
          </a:prstGeom>
        </p:spPr>
      </p:pic>
    </p:spTree>
    <p:extLst>
      <p:ext uri="{BB962C8B-B14F-4D97-AF65-F5344CB8AC3E}">
        <p14:creationId xmlns:p14="http://schemas.microsoft.com/office/powerpoint/2010/main" val="64422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52851" y="529843"/>
            <a:ext cx="6035040" cy="701040"/>
          </a:xfrm>
          <a:prstGeom prst="rect">
            <a:avLst/>
          </a:prstGeom>
        </p:spPr>
        <p:txBody>
          <a:bodyPr vert="horz" wrap="square" lIns="0" tIns="16510" rIns="0" bIns="0" rtlCol="0">
            <a:spAutoFit/>
          </a:bodyPr>
          <a:lstStyle/>
          <a:p>
            <a:pPr marL="12700">
              <a:lnSpc>
                <a:spcPct val="100000"/>
              </a:lnSpc>
              <a:spcBef>
                <a:spcPts val="130"/>
              </a:spcBef>
            </a:pPr>
            <a:r>
              <a:rPr spc="45" dirty="0"/>
              <a:t>R</a:t>
            </a:r>
            <a:r>
              <a:rPr spc="-10" dirty="0"/>
              <a:t>E</a:t>
            </a:r>
            <a:r>
              <a:rPr spc="20" dirty="0"/>
              <a:t>S</a:t>
            </a:r>
            <a:r>
              <a:rPr spc="45" dirty="0"/>
              <a:t>U</a:t>
            </a:r>
            <a:r>
              <a:rPr spc="-385" dirty="0"/>
              <a:t>L</a:t>
            </a:r>
            <a:r>
              <a:rPr spc="-10" dirty="0"/>
              <a:t>T</a:t>
            </a:r>
            <a:r>
              <a:rPr spc="15" dirty="0"/>
              <a:t>S</a:t>
            </a:r>
            <a:r>
              <a:rPr spc="-120" dirty="0"/>
              <a:t> </a:t>
            </a:r>
            <a:r>
              <a:rPr spc="25" dirty="0"/>
              <a:t>&amp;</a:t>
            </a:r>
            <a:r>
              <a:rPr spc="-290" dirty="0"/>
              <a:t> </a:t>
            </a:r>
            <a:r>
              <a:rPr spc="45" dirty="0"/>
              <a:t>ANA</a:t>
            </a:r>
            <a:r>
              <a:rPr spc="-385" dirty="0"/>
              <a:t>L</a:t>
            </a:r>
            <a:r>
              <a:rPr spc="-25" dirty="0"/>
              <a:t>Y</a:t>
            </a:r>
            <a:r>
              <a:rPr spc="20" dirty="0"/>
              <a:t>S</a:t>
            </a:r>
            <a:r>
              <a:rPr spc="10" dirty="0"/>
              <a:t>IS</a:t>
            </a:r>
          </a:p>
        </p:txBody>
      </p:sp>
      <p:sp>
        <p:nvSpPr>
          <p:cNvPr id="4" name="object 4"/>
          <p:cNvSpPr txBox="1">
            <a:spLocks noGrp="1"/>
          </p:cNvSpPr>
          <p:nvPr>
            <p:ph type="dt" sz="half" idx="6"/>
          </p:nvPr>
        </p:nvSpPr>
        <p:spPr>
          <a:xfrm>
            <a:off x="917575" y="6451049"/>
            <a:ext cx="911225" cy="179536"/>
          </a:xfrm>
          <a:prstGeom prst="rect">
            <a:avLst/>
          </a:prstGeom>
        </p:spPr>
        <p:txBody>
          <a:bodyPr vert="horz" wrap="square" lIns="0" tIns="0" rIns="0" bIns="0" rtlCol="0">
            <a:spAutoFit/>
          </a:bodyPr>
          <a:lstStyle/>
          <a:p>
            <a:pPr marL="12700">
              <a:lnSpc>
                <a:spcPts val="1410"/>
              </a:lnSpc>
            </a:pPr>
            <a:r>
              <a:rPr lang="en-IN" spc="5" dirty="0"/>
              <a:t>10-11-2025</a:t>
            </a:r>
          </a:p>
        </p:txBody>
      </p:sp>
      <p:sp>
        <p:nvSpPr>
          <p:cNvPr id="5" name="object 5"/>
          <p:cNvSpPr txBox="1"/>
          <p:nvPr/>
        </p:nvSpPr>
        <p:spPr>
          <a:xfrm>
            <a:off x="3810000" y="6451049"/>
            <a:ext cx="98387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2" y="6451049"/>
            <a:ext cx="983870"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CB4</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15</a:t>
            </a:fld>
            <a:endParaRPr dirty="0"/>
          </a:p>
        </p:txBody>
      </p:sp>
      <p:sp>
        <p:nvSpPr>
          <p:cNvPr id="13" name="TextBox 12">
            <a:extLst>
              <a:ext uri="{FF2B5EF4-FFF2-40B4-BE49-F238E27FC236}">
                <a16:creationId xmlns:a16="http://schemas.microsoft.com/office/drawing/2014/main" id="{ED97B5B9-68C6-9894-5929-0D13DC52AFD4}"/>
              </a:ext>
            </a:extLst>
          </p:cNvPr>
          <p:cNvSpPr txBox="1"/>
          <p:nvPr/>
        </p:nvSpPr>
        <p:spPr>
          <a:xfrm>
            <a:off x="6304238" y="4124478"/>
            <a:ext cx="5046931" cy="369332"/>
          </a:xfrm>
          <a:prstGeom prst="rect">
            <a:avLst/>
          </a:prstGeom>
          <a:noFill/>
        </p:spPr>
        <p:txBody>
          <a:bodyPr wrap="square" rtlCol="0">
            <a:spAutoFit/>
          </a:bodyPr>
          <a:lstStyle/>
          <a:p>
            <a:r>
              <a:rPr lang="en-US" sz="1800" dirty="0">
                <a:effectLst/>
                <a:latin typeface="Times New Roman" panose="02020603050405020304" pitchFamily="18" charset="0"/>
                <a:ea typeface="SimSun" panose="02010600030101010101" pitchFamily="2" charset="-122"/>
              </a:rPr>
              <a:t>  Fig.2:  Model Performance Comparison</a:t>
            </a:r>
            <a:endParaRPr lang="en-IN" dirty="0"/>
          </a:p>
        </p:txBody>
      </p:sp>
      <p:sp>
        <p:nvSpPr>
          <p:cNvPr id="14" name="TextBox 13">
            <a:extLst>
              <a:ext uri="{FF2B5EF4-FFF2-40B4-BE49-F238E27FC236}">
                <a16:creationId xmlns:a16="http://schemas.microsoft.com/office/drawing/2014/main" id="{8DC8F3F0-5F44-F669-C8AD-7D2EED5393E5}"/>
              </a:ext>
            </a:extLst>
          </p:cNvPr>
          <p:cNvSpPr txBox="1"/>
          <p:nvPr/>
        </p:nvSpPr>
        <p:spPr>
          <a:xfrm>
            <a:off x="917575" y="4113201"/>
            <a:ext cx="3926572" cy="369332"/>
          </a:xfrm>
          <a:prstGeom prst="rect">
            <a:avLst/>
          </a:prstGeom>
          <a:noFill/>
        </p:spPr>
        <p:txBody>
          <a:bodyPr wrap="square" rtlCol="0">
            <a:spAutoFit/>
          </a:bodyPr>
          <a:lstStyle/>
          <a:p>
            <a:pPr algn="ctr"/>
            <a:r>
              <a:rPr lang="en-US" sz="1800" dirty="0">
                <a:effectLst/>
                <a:latin typeface="Times New Roman" panose="02020603050405020304" pitchFamily="18" charset="0"/>
                <a:ea typeface="SimSun" panose="02010600030101010101" pitchFamily="2" charset="-122"/>
              </a:rPr>
              <a:t>Fig.1: Training of Meta-CatBoost Layer</a:t>
            </a:r>
            <a:endParaRPr lang="en-IN" sz="1800" dirty="0">
              <a:effectLst/>
              <a:latin typeface="Times New Roman" panose="02020603050405020304" pitchFamily="18" charset="0"/>
              <a:ea typeface="SimSun" panose="02010600030101010101" pitchFamily="2" charset="-122"/>
            </a:endParaRPr>
          </a:p>
        </p:txBody>
      </p:sp>
      <p:pic>
        <p:nvPicPr>
          <p:cNvPr id="15" name="Picture 14">
            <a:extLst>
              <a:ext uri="{FF2B5EF4-FFF2-40B4-BE49-F238E27FC236}">
                <a16:creationId xmlns:a16="http://schemas.microsoft.com/office/drawing/2014/main" id="{61F0B2F7-0D11-465D-8BDF-7126743F4A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093831"/>
            <a:ext cx="4644834" cy="3097567"/>
          </a:xfrm>
          <a:prstGeom prst="rect">
            <a:avLst/>
          </a:prstGeom>
        </p:spPr>
      </p:pic>
      <p:sp>
        <p:nvSpPr>
          <p:cNvPr id="3" name="TextBox 2">
            <a:extLst>
              <a:ext uri="{FF2B5EF4-FFF2-40B4-BE49-F238E27FC236}">
                <a16:creationId xmlns:a16="http://schemas.microsoft.com/office/drawing/2014/main" id="{40101C0F-02D7-4DB1-9420-C250A00D7D78}"/>
              </a:ext>
            </a:extLst>
          </p:cNvPr>
          <p:cNvSpPr txBox="1"/>
          <p:nvPr/>
        </p:nvSpPr>
        <p:spPr>
          <a:xfrm>
            <a:off x="533400" y="4465321"/>
            <a:ext cx="11353800" cy="2031325"/>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AquaNet-X model achieved exceptional predictive accuracy with an R² of 0.9994, RMSE of 3.64, and MAE of 2.83, significantly outperforming individual models like Bi-GRU, Transformer, XGBoost, and LightGBM. The hybrid stacked ensemble effectively captured both temporal and nonlinear feature relationships, leading to stable WQI.</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Meta-CatBoost layer enhanced model generalization by intelligently fusing the base model predictions, reducing residual errors and overfitting.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AquaNet-X demonstrated higher robustness against noisy or region-specific variations, proving its suitability for real-time water quality monitoring and smart environmental management systems.</a:t>
            </a:r>
          </a:p>
        </p:txBody>
      </p:sp>
      <p:pic>
        <p:nvPicPr>
          <p:cNvPr id="11" name="Picture 10">
            <a:extLst>
              <a:ext uri="{FF2B5EF4-FFF2-40B4-BE49-F238E27FC236}">
                <a16:creationId xmlns:a16="http://schemas.microsoft.com/office/drawing/2014/main" id="{65E39A8E-AFB3-458E-9CE4-3782C60980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8234" y="1230883"/>
            <a:ext cx="6829108" cy="28970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13280" y="529843"/>
            <a:ext cx="9306560" cy="701040"/>
          </a:xfrm>
          <a:prstGeom prst="rect">
            <a:avLst/>
          </a:prstGeom>
        </p:spPr>
        <p:txBody>
          <a:bodyPr vert="horz" wrap="square" lIns="0" tIns="16510" rIns="0" bIns="0" rtlCol="0">
            <a:spAutoFit/>
          </a:bodyPr>
          <a:lstStyle/>
          <a:p>
            <a:pPr marL="12700">
              <a:lnSpc>
                <a:spcPct val="100000"/>
              </a:lnSpc>
              <a:spcBef>
                <a:spcPts val="130"/>
              </a:spcBef>
            </a:pPr>
            <a:r>
              <a:rPr spc="20" dirty="0"/>
              <a:t>CONCLUSION</a:t>
            </a:r>
            <a:r>
              <a:rPr spc="-275" dirty="0"/>
              <a:t> </a:t>
            </a:r>
            <a:r>
              <a:rPr lang="en-US" spc="25" dirty="0"/>
              <a:t>&amp;</a:t>
            </a:r>
            <a:r>
              <a:rPr spc="-65" dirty="0"/>
              <a:t> </a:t>
            </a:r>
            <a:r>
              <a:rPr spc="25" dirty="0"/>
              <a:t>FUTURE</a:t>
            </a:r>
            <a:r>
              <a:rPr spc="-250" dirty="0"/>
              <a:t> </a:t>
            </a:r>
            <a:r>
              <a:rPr spc="25" dirty="0"/>
              <a:t>SCOPE</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a:t>
            </a:r>
            <a:r>
              <a:rPr spc="5" dirty="0"/>
              <a:t>-202</a:t>
            </a:r>
            <a:r>
              <a:rPr lang="en-IN" spc="5" dirty="0"/>
              <a:t>5</a:t>
            </a:r>
            <a:endParaRPr spc="5" dirty="0"/>
          </a:p>
        </p:txBody>
      </p:sp>
      <p:sp>
        <p:nvSpPr>
          <p:cNvPr id="5" name="object 5"/>
          <p:cNvSpPr txBox="1"/>
          <p:nvPr/>
        </p:nvSpPr>
        <p:spPr>
          <a:xfrm>
            <a:off x="3886200" y="6451049"/>
            <a:ext cx="129832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1" y="6451049"/>
            <a:ext cx="1037655"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CB4</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16</a:t>
            </a:fld>
            <a:endParaRPr dirty="0"/>
          </a:p>
        </p:txBody>
      </p:sp>
      <p:sp>
        <p:nvSpPr>
          <p:cNvPr id="3" name="object 3"/>
          <p:cNvSpPr txBox="1"/>
          <p:nvPr/>
        </p:nvSpPr>
        <p:spPr>
          <a:xfrm>
            <a:off x="917575" y="1828800"/>
            <a:ext cx="8836025" cy="792525"/>
          </a:xfrm>
          <a:prstGeom prst="rect">
            <a:avLst/>
          </a:prstGeom>
        </p:spPr>
        <p:txBody>
          <a:bodyPr vert="horz" wrap="square" lIns="0" tIns="99060" rIns="0" bIns="0" rtlCol="0">
            <a:spAutoFit/>
          </a:bodyPr>
          <a:lstStyle/>
          <a:p>
            <a:pPr>
              <a:lnSpc>
                <a:spcPct val="100000"/>
              </a:lnSpc>
              <a:spcBef>
                <a:spcPts val="50"/>
              </a:spcBef>
            </a:pPr>
            <a:endParaRPr lang="en-IN" sz="4500" dirty="0">
              <a:latin typeface="Times New Roman"/>
              <a:cs typeface="Times New Roman"/>
            </a:endParaRPr>
          </a:p>
        </p:txBody>
      </p:sp>
      <p:sp>
        <p:nvSpPr>
          <p:cNvPr id="10" name="TextBox 9">
            <a:extLst>
              <a:ext uri="{FF2B5EF4-FFF2-40B4-BE49-F238E27FC236}">
                <a16:creationId xmlns:a16="http://schemas.microsoft.com/office/drawing/2014/main" id="{9DC4A0A2-9D3F-B7E9-6CA7-0DAE36D65ACB}"/>
              </a:ext>
            </a:extLst>
          </p:cNvPr>
          <p:cNvSpPr txBox="1"/>
          <p:nvPr/>
        </p:nvSpPr>
        <p:spPr>
          <a:xfrm>
            <a:off x="457200" y="1676400"/>
            <a:ext cx="11277600" cy="4524315"/>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Conclusion:</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AquaNet-X redefines water quality prediction using a meta-stacked hybrid ensemble model and it effectively captures temporal, spatial, and nonlinear dependencies.</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Achieved 99.94% accuracy, outperforming traditional and deep learning baselines.</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Its adaptive and interpretable design makes it ready for real-world deployment.</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Represents a step toward smart, scalable, and trustworthy water management systems and ensures </a:t>
            </a:r>
            <a:r>
              <a:rPr lang="en-IN" sz="2400" dirty="0">
                <a:latin typeface="Times New Roman" panose="02020603050405020304" pitchFamily="18" charset="0"/>
                <a:cs typeface="Times New Roman" panose="02020603050405020304" pitchFamily="18" charset="0"/>
              </a:rPr>
              <a:t>robustness, interpretability, and scalability.</a:t>
            </a:r>
          </a:p>
          <a:p>
            <a:pPr algn="just"/>
            <a:r>
              <a:rPr lang="en-IN" sz="2400" b="1" dirty="0">
                <a:latin typeface="Times New Roman" panose="02020603050405020304" pitchFamily="18" charset="0"/>
                <a:cs typeface="Times New Roman" panose="02020603050405020304" pitchFamily="18" charset="0"/>
              </a:rPr>
              <a:t>Future Enhancement:</a:t>
            </a:r>
            <a:endParaRPr lang="en-US" sz="2400"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Expand dataset with multi-national water records for broader generalization.</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Integrate IoT sensor and satellite data.</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Implement blockchain-based secure reporting.</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Extending the model to forecast contaminant-specific predictions.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67910" y="529843"/>
            <a:ext cx="3807460" cy="701040"/>
          </a:xfrm>
          <a:prstGeom prst="rect">
            <a:avLst/>
          </a:prstGeom>
        </p:spPr>
        <p:txBody>
          <a:bodyPr vert="horz" wrap="square" lIns="0" tIns="16510" rIns="0" bIns="0" rtlCol="0">
            <a:spAutoFit/>
          </a:bodyPr>
          <a:lstStyle/>
          <a:p>
            <a:pPr marL="12700">
              <a:lnSpc>
                <a:spcPct val="100000"/>
              </a:lnSpc>
              <a:spcBef>
                <a:spcPts val="130"/>
              </a:spcBef>
            </a:pPr>
            <a:r>
              <a:rPr spc="15" dirty="0"/>
              <a:t>REFERENCES</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10-11-2025</a:t>
            </a:r>
          </a:p>
        </p:txBody>
      </p:sp>
      <p:sp>
        <p:nvSpPr>
          <p:cNvPr id="5" name="object 5"/>
          <p:cNvSpPr txBox="1"/>
          <p:nvPr/>
        </p:nvSpPr>
        <p:spPr>
          <a:xfrm>
            <a:off x="4038600" y="6451049"/>
            <a:ext cx="114592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2" y="6451049"/>
            <a:ext cx="928054"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CB4</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17</a:t>
            </a:fld>
            <a:endParaRPr dirty="0"/>
          </a:p>
        </p:txBody>
      </p:sp>
      <p:sp>
        <p:nvSpPr>
          <p:cNvPr id="3" name="object 3"/>
          <p:cNvSpPr txBox="1"/>
          <p:nvPr/>
        </p:nvSpPr>
        <p:spPr>
          <a:xfrm>
            <a:off x="381000" y="1458909"/>
            <a:ext cx="11430000" cy="4247958"/>
          </a:xfrm>
          <a:prstGeom prst="rect">
            <a:avLst/>
          </a:prstGeom>
        </p:spPr>
        <p:txBody>
          <a:bodyPr vert="horz" wrap="square" lIns="0" tIns="15875" rIns="0" bIns="0" rtlCol="0">
            <a:spAutoFit/>
          </a:bodyPr>
          <a:lstStyle/>
          <a:p>
            <a:pPr marL="457200" indent="-457200" algn="just">
              <a:lnSpc>
                <a:spcPts val="2455"/>
              </a:lnSpc>
              <a:spcBef>
                <a:spcPts val="125"/>
              </a:spcBef>
              <a:buFontTx/>
              <a:buAutoNum type="arabicPeriod"/>
              <a:tabLst>
                <a:tab pos="457200" algn="l"/>
                <a:tab pos="470534" algn="l"/>
              </a:tabLst>
            </a:pPr>
            <a:r>
              <a:rPr lang="en-US" sz="2200" spc="0" dirty="0">
                <a:effectLst/>
                <a:latin typeface="Times New Roman" panose="02020603050405020304" pitchFamily="18" charset="0"/>
                <a:ea typeface="Times New Roman" panose="02020603050405020304" pitchFamily="18" charset="0"/>
              </a:rPr>
              <a:t>Q. Zhu, F. He, and C. Yu, ”CEEMDAN-LSTM-CNN with self-attention for robust water forecasting,” IEEE Trans. Neural Network. Learn. Syst., vol. 36, no. 4, pp. 1234–1245, 2025. </a:t>
            </a:r>
            <a:endParaRPr lang="en-IN" sz="2200" spc="0" dirty="0">
              <a:effectLst/>
              <a:latin typeface="Times New Roman" panose="02020603050405020304" pitchFamily="18" charset="0"/>
              <a:ea typeface="Times New Roman" panose="02020603050405020304" pitchFamily="18" charset="0"/>
            </a:endParaRPr>
          </a:p>
          <a:p>
            <a:pPr marL="457200" indent="-457200" algn="just">
              <a:lnSpc>
                <a:spcPts val="2455"/>
              </a:lnSpc>
              <a:spcBef>
                <a:spcPts val="125"/>
              </a:spcBef>
              <a:buFontTx/>
              <a:buAutoNum type="arabicPeriod"/>
              <a:tabLst>
                <a:tab pos="457200" algn="l"/>
                <a:tab pos="470534" algn="l"/>
              </a:tabLst>
            </a:pPr>
            <a:r>
              <a:rPr lang="en-US" sz="2200" spc="0" dirty="0">
                <a:effectLst/>
                <a:latin typeface="Times New Roman" panose="02020603050405020304" pitchFamily="18" charset="0"/>
                <a:ea typeface="Times New Roman" panose="02020603050405020304" pitchFamily="18" charset="0"/>
              </a:rPr>
              <a:t>S. Subashini and T. Sellamuthu, ”Intelligent hybrid frameworks for adaptive water quality modeling using IoT and remote sensing,” IEEE Internet Things J., vol. 11, no. 5, pp. 4400–4410, 2025. </a:t>
            </a:r>
            <a:endParaRPr lang="en-IN" sz="2200" spc="0" dirty="0">
              <a:effectLst/>
              <a:latin typeface="Times New Roman" panose="02020603050405020304" pitchFamily="18" charset="0"/>
              <a:ea typeface="Times New Roman" panose="02020603050405020304" pitchFamily="18" charset="0"/>
            </a:endParaRPr>
          </a:p>
          <a:p>
            <a:pPr marL="457200" indent="-457200" algn="just">
              <a:lnSpc>
                <a:spcPts val="2455"/>
              </a:lnSpc>
              <a:spcBef>
                <a:spcPts val="125"/>
              </a:spcBef>
              <a:buFontTx/>
              <a:buAutoNum type="arabicPeriod"/>
              <a:tabLst>
                <a:tab pos="457200" algn="l"/>
                <a:tab pos="470534" algn="l"/>
              </a:tabLst>
            </a:pPr>
            <a:r>
              <a:rPr lang="en-US" sz="2200" spc="0" dirty="0">
                <a:effectLst/>
                <a:latin typeface="Times New Roman" panose="02020603050405020304" pitchFamily="18" charset="0"/>
                <a:ea typeface="Times New Roman" panose="02020603050405020304" pitchFamily="18" charset="0"/>
              </a:rPr>
              <a:t>S. Pandya, ”Hybrid ensemble dashboards for cross regional water quality prediction,” IEEE Sustain. Comp. Lett., vol. 13, no. 2, pp. 92–99, 2025. </a:t>
            </a:r>
          </a:p>
          <a:p>
            <a:pPr marL="457200" indent="-457200" algn="just">
              <a:lnSpc>
                <a:spcPts val="2455"/>
              </a:lnSpc>
              <a:spcBef>
                <a:spcPts val="125"/>
              </a:spcBef>
              <a:buFontTx/>
              <a:buAutoNum type="arabicPeriod"/>
              <a:tabLst>
                <a:tab pos="457200" algn="l"/>
                <a:tab pos="470534" algn="l"/>
              </a:tabLst>
            </a:pPr>
            <a:r>
              <a:rPr lang="en-US" sz="2200" spc="0" dirty="0">
                <a:effectLst/>
                <a:latin typeface="Times New Roman" panose="02020603050405020304" pitchFamily="18" charset="0"/>
                <a:ea typeface="Times New Roman" panose="02020603050405020304" pitchFamily="18" charset="0"/>
              </a:rPr>
              <a:t>S. Dey and T. Roy, ”Meta-learning ensemble integrator for generalizable basin prediction,” IEEE Trans. Water Compute., vol. 3, no. 2, pp. 101–109, 2025. </a:t>
            </a:r>
          </a:p>
          <a:p>
            <a:pPr marL="457200" indent="-457200" algn="just">
              <a:lnSpc>
                <a:spcPts val="2455"/>
              </a:lnSpc>
              <a:spcBef>
                <a:spcPts val="125"/>
              </a:spcBef>
              <a:buFontTx/>
              <a:buAutoNum type="arabicPeriod"/>
              <a:tabLst>
                <a:tab pos="457200" algn="l"/>
                <a:tab pos="470534" algn="l"/>
              </a:tabLst>
            </a:pPr>
            <a:r>
              <a:rPr lang="en-US" sz="2200" spc="0" dirty="0">
                <a:effectLst/>
                <a:latin typeface="Times New Roman" panose="02020603050405020304" pitchFamily="18" charset="0"/>
                <a:ea typeface="Times New Roman" panose="02020603050405020304" pitchFamily="18" charset="0"/>
              </a:rPr>
              <a:t>Z. Liu and H. Chuang, ”Enhanced water image preprocessing via RGB water-filling with shadow correction,” IEEE Trans. Image Process., vol. 34, no. 6, pp. 2104–2116, 2025.</a:t>
            </a:r>
            <a:endParaRPr lang="en-IN" sz="2200" spc="0" dirty="0">
              <a:effectLst/>
              <a:latin typeface="Times New Roman" panose="02020603050405020304" pitchFamily="18" charset="0"/>
              <a:ea typeface="Times New Roman" panose="02020603050405020304" pitchFamily="18" charset="0"/>
            </a:endParaRPr>
          </a:p>
          <a:p>
            <a:pPr marL="457200" indent="-457200" algn="just">
              <a:lnSpc>
                <a:spcPts val="2455"/>
              </a:lnSpc>
              <a:spcBef>
                <a:spcPts val="125"/>
              </a:spcBef>
              <a:buFontTx/>
              <a:buAutoNum type="arabicPeriod"/>
              <a:tabLst>
                <a:tab pos="457200" algn="l"/>
                <a:tab pos="470534" algn="l"/>
              </a:tabLst>
            </a:pPr>
            <a:r>
              <a:rPr lang="en-US" sz="2200" spc="0" dirty="0">
                <a:effectLst/>
                <a:latin typeface="Times New Roman" panose="02020603050405020304" pitchFamily="18" charset="0"/>
                <a:ea typeface="Times New Roman" panose="02020603050405020304" pitchFamily="18" charset="0"/>
              </a:rPr>
              <a:t>R.</a:t>
            </a:r>
            <a:r>
              <a:rPr lang="en-US" sz="2200" spc="-15" dirty="0">
                <a:effectLst/>
                <a:latin typeface="Times New Roman" panose="02020603050405020304" pitchFamily="18" charset="0"/>
                <a:ea typeface="Times New Roman" panose="02020603050405020304" pitchFamily="18" charset="0"/>
              </a:rPr>
              <a:t> </a:t>
            </a:r>
            <a:r>
              <a:rPr lang="en-US" sz="2200" spc="0" dirty="0">
                <a:effectLst/>
                <a:latin typeface="Times New Roman" panose="02020603050405020304" pitchFamily="18" charset="0"/>
                <a:ea typeface="Times New Roman" panose="02020603050405020304" pitchFamily="18" charset="0"/>
              </a:rPr>
              <a:t>Desai</a:t>
            </a:r>
            <a:r>
              <a:rPr lang="en-US" sz="2200" spc="-15" dirty="0">
                <a:effectLst/>
                <a:latin typeface="Times New Roman" panose="02020603050405020304" pitchFamily="18" charset="0"/>
                <a:ea typeface="Times New Roman" panose="02020603050405020304" pitchFamily="18" charset="0"/>
              </a:rPr>
              <a:t> </a:t>
            </a:r>
            <a:r>
              <a:rPr lang="en-US" sz="2200" spc="0" dirty="0">
                <a:effectLst/>
                <a:latin typeface="Times New Roman" panose="02020603050405020304" pitchFamily="18" charset="0"/>
                <a:ea typeface="Times New Roman" panose="02020603050405020304" pitchFamily="18" charset="0"/>
              </a:rPr>
              <a:t>and</a:t>
            </a:r>
            <a:r>
              <a:rPr lang="en-US" sz="2200" spc="-15" dirty="0">
                <a:effectLst/>
                <a:latin typeface="Times New Roman" panose="02020603050405020304" pitchFamily="18" charset="0"/>
                <a:ea typeface="Times New Roman" panose="02020603050405020304" pitchFamily="18" charset="0"/>
              </a:rPr>
              <a:t> </a:t>
            </a:r>
            <a:r>
              <a:rPr lang="en-US" sz="2200" spc="0" dirty="0">
                <a:effectLst/>
                <a:latin typeface="Times New Roman" panose="02020603050405020304" pitchFamily="18" charset="0"/>
                <a:ea typeface="Times New Roman" panose="02020603050405020304" pitchFamily="18" charset="0"/>
              </a:rPr>
              <a:t>M.</a:t>
            </a:r>
            <a:r>
              <a:rPr lang="en-US" sz="2200" spc="-15" dirty="0">
                <a:effectLst/>
                <a:latin typeface="Times New Roman" panose="02020603050405020304" pitchFamily="18" charset="0"/>
                <a:ea typeface="Times New Roman" panose="02020603050405020304" pitchFamily="18" charset="0"/>
              </a:rPr>
              <a:t> </a:t>
            </a:r>
            <a:r>
              <a:rPr lang="en-US" sz="2200" spc="0" dirty="0">
                <a:effectLst/>
                <a:latin typeface="Times New Roman" panose="02020603050405020304" pitchFamily="18" charset="0"/>
                <a:ea typeface="Times New Roman" panose="02020603050405020304" pitchFamily="18" charset="0"/>
              </a:rPr>
              <a:t>Kulkarni,</a:t>
            </a:r>
            <a:r>
              <a:rPr lang="en-US" sz="2200" spc="-15" dirty="0">
                <a:effectLst/>
                <a:latin typeface="Times New Roman" panose="02020603050405020304" pitchFamily="18" charset="0"/>
                <a:ea typeface="Times New Roman" panose="02020603050405020304" pitchFamily="18" charset="0"/>
              </a:rPr>
              <a:t> </a:t>
            </a:r>
            <a:r>
              <a:rPr lang="en-US" sz="2200" spc="0" dirty="0">
                <a:effectLst/>
                <a:latin typeface="Times New Roman" panose="02020603050405020304" pitchFamily="18" charset="0"/>
                <a:ea typeface="Times New Roman" panose="02020603050405020304" pitchFamily="18" charset="0"/>
              </a:rPr>
              <a:t>”Temporal</a:t>
            </a:r>
            <a:r>
              <a:rPr lang="en-US" sz="2200" spc="-15" dirty="0">
                <a:effectLst/>
                <a:latin typeface="Times New Roman" panose="02020603050405020304" pitchFamily="18" charset="0"/>
                <a:ea typeface="Times New Roman" panose="02020603050405020304" pitchFamily="18" charset="0"/>
              </a:rPr>
              <a:t> </a:t>
            </a:r>
            <a:r>
              <a:rPr lang="en-US" sz="2200" spc="0" dirty="0">
                <a:effectLst/>
                <a:latin typeface="Times New Roman" panose="02020603050405020304" pitchFamily="18" charset="0"/>
                <a:ea typeface="Times New Roman" panose="02020603050405020304" pitchFamily="18" charset="0"/>
              </a:rPr>
              <a:t>water</a:t>
            </a:r>
            <a:r>
              <a:rPr lang="en-US" sz="2200" spc="-15" dirty="0">
                <a:effectLst/>
                <a:latin typeface="Times New Roman" panose="02020603050405020304" pitchFamily="18" charset="0"/>
                <a:ea typeface="Times New Roman" panose="02020603050405020304" pitchFamily="18" charset="0"/>
              </a:rPr>
              <a:t> </a:t>
            </a:r>
            <a:r>
              <a:rPr lang="en-US" sz="2200" spc="0" dirty="0">
                <a:effectLst/>
                <a:latin typeface="Times New Roman" panose="02020603050405020304" pitchFamily="18" charset="0"/>
                <a:ea typeface="Times New Roman" panose="02020603050405020304" pitchFamily="18" charset="0"/>
              </a:rPr>
              <a:t>quality</a:t>
            </a:r>
            <a:r>
              <a:rPr lang="en-US" sz="2200" spc="-15" dirty="0">
                <a:effectLst/>
                <a:latin typeface="Times New Roman" panose="02020603050405020304" pitchFamily="18" charset="0"/>
                <a:ea typeface="Times New Roman" panose="02020603050405020304" pitchFamily="18" charset="0"/>
              </a:rPr>
              <a:t> </a:t>
            </a:r>
            <a:r>
              <a:rPr lang="en-US" sz="2200" spc="0" dirty="0">
                <a:effectLst/>
                <a:latin typeface="Times New Roman" panose="02020603050405020304" pitchFamily="18" charset="0"/>
                <a:ea typeface="Times New Roman" panose="02020603050405020304" pitchFamily="18" charset="0"/>
              </a:rPr>
              <a:t>forecasting using hybrid CNN-GRU architecture,” in Proc. 2023 IEEE Int. Conf. on Sustainable Computing, pp. 58-65, 2023.</a:t>
            </a:r>
            <a:endParaRPr lang="en-IN" sz="2200" dirty="0">
              <a:effectLst/>
              <a:latin typeface="Times New Roman" panose="02020603050405020304" pitchFamily="18" charset="0"/>
              <a:ea typeface="MS Mincho" panose="02020609040205080304" pitchFamily="49"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10-11-2025</a:t>
            </a:r>
          </a:p>
        </p:txBody>
      </p:sp>
      <p:sp>
        <p:nvSpPr>
          <p:cNvPr id="5" name="object 5"/>
          <p:cNvSpPr txBox="1"/>
          <p:nvPr/>
        </p:nvSpPr>
        <p:spPr>
          <a:xfrm>
            <a:off x="4114800" y="6451049"/>
            <a:ext cx="106972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1" y="6451049"/>
            <a:ext cx="1069719"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CB4</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18</a:t>
            </a:fld>
            <a:endParaRPr dirty="0"/>
          </a:p>
        </p:txBody>
      </p:sp>
      <p:pic>
        <p:nvPicPr>
          <p:cNvPr id="9" name="Content Placeholder 2">
            <a:extLst>
              <a:ext uri="{FF2B5EF4-FFF2-40B4-BE49-F238E27FC236}">
                <a16:creationId xmlns:a16="http://schemas.microsoft.com/office/drawing/2014/main" id="{FC0D0F7C-B2FD-C5B2-B778-D72F8FE13278}"/>
              </a:ext>
            </a:extLst>
          </p:cNvPr>
          <p:cNvPicPr>
            <a:picLocks noGrp="1" noChangeAspect="1"/>
          </p:cNvPicPr>
          <p:nvPr/>
        </p:nvPicPr>
        <p:blipFill>
          <a:blip r:embed="rId2">
            <a:extLst>
              <a:ext uri="{28A0092B-C50C-407E-A947-70E740481C1C}">
                <a14:useLocalDpi xmlns:a14="http://schemas.microsoft.com/office/drawing/2010/main" val="0"/>
              </a:ext>
            </a:extLst>
          </a:blip>
          <a:srcRect/>
          <a:stretch/>
        </p:blipFill>
        <p:spPr>
          <a:xfrm>
            <a:off x="1503320" y="609600"/>
            <a:ext cx="9185360" cy="517720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10-11-2025</a:t>
            </a:r>
          </a:p>
        </p:txBody>
      </p:sp>
      <p:sp>
        <p:nvSpPr>
          <p:cNvPr id="5" name="object 5"/>
          <p:cNvSpPr txBox="1"/>
          <p:nvPr/>
        </p:nvSpPr>
        <p:spPr>
          <a:xfrm>
            <a:off x="4426330" y="6451049"/>
            <a:ext cx="1066002"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01</a:t>
            </a:r>
            <a:endParaRPr sz="1200" dirty="0">
              <a:latin typeface="Times New Roman"/>
              <a:cs typeface="Times New Roman"/>
            </a:endParaRPr>
          </a:p>
        </p:txBody>
      </p:sp>
      <p:sp>
        <p:nvSpPr>
          <p:cNvPr id="6" name="object 6"/>
          <p:cNvSpPr txBox="1"/>
          <p:nvPr/>
        </p:nvSpPr>
        <p:spPr>
          <a:xfrm>
            <a:off x="5492331" y="6451049"/>
            <a:ext cx="1066001"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CB4</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19</a:t>
            </a:fld>
            <a:endParaRPr dirty="0"/>
          </a:p>
        </p:txBody>
      </p:sp>
      <p:pic>
        <p:nvPicPr>
          <p:cNvPr id="9" name="Content Placeholder 1">
            <a:extLst>
              <a:ext uri="{FF2B5EF4-FFF2-40B4-BE49-F238E27FC236}">
                <a16:creationId xmlns:a16="http://schemas.microsoft.com/office/drawing/2014/main" id="{41706558-8090-A4A6-08CA-B0EFAA70C8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8639" y="1046480"/>
            <a:ext cx="8655341" cy="45923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1755</TotalTime>
  <Words>2989</Words>
  <Application>Microsoft Office PowerPoint</Application>
  <PresentationFormat>Widescreen</PresentationFormat>
  <Paragraphs>270</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Arial MT</vt:lpstr>
      <vt:lpstr>Calibri</vt:lpstr>
      <vt:lpstr>Times New Roman</vt:lpstr>
      <vt:lpstr>Office Theme</vt:lpstr>
      <vt:lpstr>Department of Computer Science and Engineering AquaNet-X: A Deep Hybrid Ensemble Model for Accurate Real-Time Water Quality Index Prediction </vt:lpstr>
      <vt:lpstr>OUTLINE</vt:lpstr>
      <vt:lpstr>ABSTRACT</vt:lpstr>
      <vt:lpstr>INTRODUCTION</vt:lpstr>
      <vt:lpstr>PROBLEM STATEMENT</vt:lpstr>
      <vt:lpstr>LITERATURE SURVEY</vt:lpstr>
      <vt:lpstr>RESEARCH GAPS</vt:lpstr>
      <vt:lpstr>OBJECTIVES</vt:lpstr>
      <vt:lpstr>METHODOLOGY</vt:lpstr>
      <vt:lpstr>FLOW DIAGRAM</vt:lpstr>
      <vt:lpstr>IMPLEMENTATION</vt:lpstr>
      <vt:lpstr>PowerPoint Presentation</vt:lpstr>
      <vt:lpstr>PowerPoint Presentation</vt:lpstr>
      <vt:lpstr>PowerPoint Presentation</vt:lpstr>
      <vt:lpstr>RESULTS &amp; ANALYSIS</vt:lpstr>
      <vt:lpstr>CONCLUSION &amp; FUTURE SCOPE</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
  <cp:lastModifiedBy>Harish Pallapu</cp:lastModifiedBy>
  <cp:revision>80</cp:revision>
  <dcterms:created xsi:type="dcterms:W3CDTF">2024-03-31T16:53:22Z</dcterms:created>
  <dcterms:modified xsi:type="dcterms:W3CDTF">2025-12-06T07:08:16Z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2023-12-24T00:00:00Z</vt:filetime>
  </property>
  <property fmtid="{D5CDD505-2E9C-101B-9397-08002B2CF9AE}" pid="3" name="LastSaved">
    <vt:filetime>2024-03-31T00:00:00Z</vt:filetime>
  </property>
</Properties>
</file>